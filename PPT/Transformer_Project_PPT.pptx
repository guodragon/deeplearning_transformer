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319" r:id="rId2"/>
    <p:sldId id="369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267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82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A195"/>
    <a:srgbClr val="2E6A70"/>
    <a:srgbClr val="FFFFFF"/>
    <a:srgbClr val="B56873"/>
    <a:srgbClr val="007580"/>
    <a:srgbClr val="D9D9D9"/>
    <a:srgbClr val="BECDCE"/>
    <a:srgbClr val="87A9AD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240" y="144"/>
      </p:cViewPr>
      <p:guideLst>
        <p:guide orient="horz" pos="2131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7" Type="http://schemas.openxmlformats.org/officeDocument/2006/relationships/commentAuthors" Target="commentAuthors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8C5E-22DF-C67A-9400-628FE96C0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F7882D-ED58-0013-6DB1-623C12551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11E4B2-02D6-C3EE-6EF6-166248E67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E683E7-56AB-857A-AC67-7157756CF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262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B4492-CAED-7339-EA4E-C41C246C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C38C15-712A-5FFE-E812-1379757DC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8A1115-CF46-73E7-7335-17C334CAB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49725-E532-A411-7ED7-B7EE003AE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08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35F3-96D4-2158-DBB4-C4B70DBAF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94860E-1B00-BEA0-EF2B-CB3EE9383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A9645-224B-21D7-4CB8-D000B37FC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D70CE2-556D-9F98-6CD6-B471B4497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456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4B12-5298-69AC-9C1D-6E92F4BF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0E1BDC-03EA-5A40-8211-D9A543BAB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F61A4B-CE45-5CCC-8CD5-415F54AE2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3922C8-B49F-180E-14D4-30278D410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80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ED91-A077-AF90-0665-188F33627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B26DBD-E7D4-7AF8-7DC1-754882FF5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379BF2-7C56-0270-71A0-AA5B3ABCD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86BE2-E387-C65C-BC8B-7C1CC7BD8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457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C7EF-5125-55CE-20F3-CDDBDAF8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460BF0-35F7-4105-BAC8-75B2CAFEE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2A0C12-D278-D597-938C-5B2F1D6B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5AB1DD-EC95-D0C4-6AF1-2497B9FF5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687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9ACE-81DE-5A15-4AA1-3B8E82CF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397CD2-85B8-0CB9-3DF6-A74DA9732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46B83-B2D0-C952-3BDC-2FFECA465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5B3DD5-21D9-7D34-B4F1-72A510B6E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439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80D4-8F8E-DE49-A477-A6386424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038908-2053-7A5D-FA82-D5432C2B0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B30450-7F84-DB89-0835-6A3EBFF0E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20EB66-C328-C312-8B0B-BA54FE637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393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3386-018E-C247-AE07-F2BDA103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8A156-B57B-BA93-217D-53F7E1598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20EB70-42CB-197C-7FB1-E0D842FA3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9910E9-4171-C33A-832D-BFFE51D36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8193-0264-F51A-A4FB-3C88D317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114932-50D2-CDF5-DF2B-078720FE5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4EE9E2-B4EC-DABA-F481-2F97BC41B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5BF329-18FF-4CEA-BCB0-7A7C39C5D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672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CE45-19C7-AF33-5DBD-654E81AA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106BF0-3E1D-2A17-A41E-CBF89BD38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05B0EB-6C92-A015-151C-BAE73272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0ABA0B-BABB-AF85-0FA6-46AFAF45C3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9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BBACE-6566-BBF3-A547-0891B32D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9E6102-0C39-C323-A9B3-51BC6A73E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228F99-9E1C-398A-9DC1-569EDF6A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71A4F5-9957-B498-C57D-ECDB824A6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406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4D8E-3DBF-5B3D-69DD-A86B2F27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835864-8804-A8B4-4BCD-285D39AA9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E99B88-8989-D5FD-1E2D-678577EEC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B81F68-C774-EB7A-DF10-A0D69C739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898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7F30-3BD6-FE75-E059-8F2F673E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5E717F-89C9-0D71-25FD-3D72FD40C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EE8A81-FFAA-A1ED-3F28-A372C9B29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F52F93-59CD-6529-8924-8E4B1EEC42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497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8206-DE01-5706-96F4-28441C9E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0B2FF9-FC2A-EF14-3174-1BAAA9920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2C38C0-14C8-926B-17FF-5B97D5EA4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0F03B9-B7AD-9DAC-3A99-C4AB7F962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477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C94B-8EAF-A38E-C4C1-20575A85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4B448B-C47A-7D9B-F73A-B3607924C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F2AFA2-E334-796C-AF4B-C4798E3E7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ACD9D4-2F49-602F-D9E0-290A82642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674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14E5-E3A0-0E89-885D-B1A6C370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CB337B-3A3C-62F4-5803-349AAC499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736DF7-30D3-2F14-FD50-B4F72FAB0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18C8E-5F04-3449-B049-C156E3993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010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BA66-BAF0-A54B-988E-1C88350A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1FAF9B-C0FC-DD82-CE6E-727C4C055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A19A33-9AA1-16BE-C356-C5A6AE210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7980-2CAF-C465-30D3-F837EF410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8992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2CFC-A1D9-DD23-75E9-6CCACEED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1F85E3-8438-FA62-8768-C25259DBE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4D0C61-FA3C-CE30-6416-4993F999D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8D8C5A-4252-7701-7BA1-973ACB841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20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149EC-2344-5399-2B92-E82F9F0B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A88B5-C04E-0A51-A2FD-F2B36E7F6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793DF8-E745-DF70-5C3B-CD2E77850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0DBDD-E0AF-4C62-A1E8-2D3361FFF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004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370E-A308-69A8-7132-6E7E5E7F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6830D8-8C9C-2353-269D-704E5AC97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EE85B8-A688-DC33-55CE-FC7E1BED7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D8239B-9F3E-4B56-8E2B-0AA5AF2BD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0013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5B36-3F89-9D0D-6CF5-16527CAD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4CD915-E9FA-9C7F-CD99-10DF1D3C3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9617D8-FCC6-8C0E-80E2-14E9E3532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C6604-F15A-68CE-53EC-6E0D62129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2803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6BB7-376E-28F0-F583-D14FB625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72B76A-DB47-50B3-D957-815286FFD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3C7E22-1E61-C217-3E44-3646AA17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27B05D-15D8-D130-BFF4-982B408E28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37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F15E-8F61-F0CD-91F0-AABE5AF6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6EAAE3-BD8C-0B54-6246-94B39D69D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007E07-C333-66CE-074E-2EC4842C5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B34455-0113-C305-94C1-B4415992B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8961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8FE5-BB8C-E884-099C-2B209FAA0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0D3AEB-70D0-78EA-F907-9E674F2DC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802E11-FFC4-5A47-EA3C-F49165D40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7949FC-0F66-5BC8-473B-DF271A80E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5682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05FC-9820-4A72-93A3-8E7FBEEA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D97A61-3364-95DF-A990-E4239492B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DF1569-836A-8797-8987-F87173E9D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6A799A-CB33-E118-93B2-DA8ED1073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6544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68DE-B5A3-7A73-5E6A-961D8759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4AEB83-188C-810D-575F-5B60ABB3A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D3BB60-E223-61C9-0520-52AC6E178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E8600B-195B-8E2B-8244-B0C5D8F76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3242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9129-7F76-4361-A9D3-681A419F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0C3BC6-0FB9-537A-046F-70AAA4A34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F60616-70CC-7A7B-47C6-52324B29E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396A3-9D8E-583C-E49D-0F5408C5F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45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0F76-EF53-CAC7-5996-84549EF6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480433-9C70-2226-46FF-B206F8EB7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E7537D-A350-0EE1-B05F-8D253EBEA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3702DC-C38F-241D-F706-00B2F035A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1872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5502-6F10-6702-AEA4-26172B1E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455337-824F-28A2-B1FE-7DE51CE9D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D5FF32-9103-70EC-1558-7D693C32E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B3B83D-75B6-A525-8384-6706765FE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957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8BBE-1057-359A-E9F7-60A94B4E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3D7446-9F55-7E02-C14F-0AEF82C8D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425C51-2248-9B66-121C-0D64EB131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39DCFF-8A4F-274A-5C43-EA86AA27A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447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79858-D333-4F85-8DF3-AE79225D1AA1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2026/5/31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2.xml"/><Relationship Id="rId14" Type="http://schemas.openxmlformats.org/officeDocument/2006/relationships/tags" Target="../tags/tag3.xml"/><Relationship Id="rId15" Type="http://schemas.openxmlformats.org/officeDocument/2006/relationships/tags" Target="../tags/tag4.xml"/><Relationship Id="rId16" Type="http://schemas.openxmlformats.org/officeDocument/2006/relationships/tags" Target="../tags/tag5.xml"/><Relationship Id="rId17" Type="http://schemas.openxmlformats.org/officeDocument/2006/relationships/tags" Target="../tags/tag6.xml"/><Relationship Id="rId18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10819 校园外拍 唐丽香 (6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730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-196850"/>
            <a:ext cx="12212955" cy="7054850"/>
          </a:xfrm>
          <a:prstGeom prst="rect">
            <a:avLst/>
          </a:prstGeom>
          <a:solidFill>
            <a:srgbClr val="2E6A7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630680"/>
            <a:ext cx="12190730" cy="3253105"/>
          </a:xfrm>
          <a:prstGeom prst="rect">
            <a:avLst/>
          </a:prstGeom>
          <a:solidFill>
            <a:srgbClr val="2E6A7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2519680"/>
            <a:ext cx="12165965" cy="1370965"/>
          </a:xfrm>
          <a:prstGeom prst="rect">
            <a:avLst/>
          </a:prstGeom>
          <a:solidFill>
            <a:srgbClr val="2E6A70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2225" y="2607945"/>
            <a:ext cx="12190730" cy="19754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7200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论文解读与模型结构分析</a:t>
            </a:r>
          </a:p>
        </p:txBody>
      </p:sp>
      <p:pic>
        <p:nvPicPr>
          <p:cNvPr id="9" name="图片 8" descr="校徽+中英文（透明） 白色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65" y="1694815"/>
            <a:ext cx="2216150" cy="6978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3949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05050"/>
                </a:solidFill>
                <a:latin typeface="Microsoft YaHei"/>
              </a:rPr>
              <a:t>????????????????GitHub: github.com/GuoDragon/DeepLearning_Transformer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小组成员：刘承龙、韩玉轩、潘旭</a:t>
            </a:r>
          </a:p>
          <a:p>
            <a:r>
              <a:rPr sz="900">
                <a:solidFill>
                  <a:srgbClr val="E6EEFF"/>
                </a:solidFill>
                <a:latin typeface="Microsoft YaHei"/>
              </a:rPr>
              <a:t>分工：刘承龙-汇总/代码整理/PPT讲解；韩玉轩-代码编写与运行；潘旭-PPT制作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B187-E5D5-97AF-7C1B-F66B46DB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11111 秋景航拍 李琳 (7)">
            <a:extLst>
              <a:ext uri="{FF2B5EF4-FFF2-40B4-BE49-F238E27FC236}">
                <a16:creationId xmlns:a16="http://schemas.microsoft.com/office/drawing/2014/main" id="{7E1B6DDB-F6E8-2978-9EE7-2B6292448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302490" cy="692023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0C9EF13-8B1D-D5BC-B8CA-F15C205F2781}"/>
              </a:ext>
            </a:extLst>
          </p:cNvPr>
          <p:cNvSpPr/>
          <p:nvPr/>
        </p:nvSpPr>
        <p:spPr>
          <a:xfrm>
            <a:off x="0" y="-635"/>
            <a:ext cx="12341225" cy="7009765"/>
          </a:xfrm>
          <a:prstGeom prst="rect">
            <a:avLst/>
          </a:prstGeom>
          <a:solidFill>
            <a:srgbClr val="2E6A7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55E3855-A676-BF6E-E764-A076F6D4AE05}"/>
              </a:ext>
            </a:extLst>
          </p:cNvPr>
          <p:cNvGrpSpPr/>
          <p:nvPr/>
        </p:nvGrpSpPr>
        <p:grpSpPr>
          <a:xfrm>
            <a:off x="2744128" y="657487"/>
            <a:ext cx="6703744" cy="5543025"/>
            <a:chOff x="2744128" y="657487"/>
            <a:chExt cx="6703744" cy="554302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FF1BD69-4797-A916-A0DD-8308F86CC540}"/>
                </a:ext>
              </a:extLst>
            </p:cNvPr>
            <p:cNvGrpSpPr/>
            <p:nvPr/>
          </p:nvGrpSpPr>
          <p:grpSpPr>
            <a:xfrm>
              <a:off x="2744128" y="657487"/>
              <a:ext cx="6703744" cy="5543025"/>
              <a:chOff x="2744128" y="657487"/>
              <a:chExt cx="6703744" cy="5543025"/>
            </a:xfrm>
          </p:grpSpPr>
          <p:sp>
            <p:nvSpPr>
              <p:cNvPr id="31" name="菱形 30">
                <a:extLst>
                  <a:ext uri="{FF2B5EF4-FFF2-40B4-BE49-F238E27FC236}">
                    <a16:creationId xmlns:a16="http://schemas.microsoft.com/office/drawing/2014/main" id="{99BC109D-E060-4B73-1E90-4D13F4B2E360}"/>
                  </a:ext>
                </a:extLst>
              </p:cNvPr>
              <p:cNvSpPr/>
              <p:nvPr/>
            </p:nvSpPr>
            <p:spPr>
              <a:xfrm>
                <a:off x="2744128" y="657487"/>
                <a:ext cx="6703744" cy="5543025"/>
              </a:xfrm>
              <a:prstGeom prst="diamond">
                <a:avLst/>
              </a:prstGeom>
              <a:solidFill>
                <a:srgbClr val="2E6A70">
                  <a:alpha val="50000"/>
                </a:srgbClr>
              </a:solidFill>
              <a:ln w="15875">
                <a:solidFill>
                  <a:schemeClr val="accent2">
                    <a:lumMod val="20000"/>
                    <a:lumOff val="80000"/>
                    <a:alpha val="51000"/>
                  </a:schemeClr>
                </a:solidFill>
              </a:ln>
              <a:effectLst>
                <a:outerShdw blurRad="304800" dist="38100" dir="2700000" algn="tl" rotWithShape="0">
                  <a:schemeClr val="accent2">
                    <a:lumMod val="20000"/>
                    <a:lumOff val="80000"/>
                    <a:alpha val="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FB7AD0E6-714C-E7BD-EB5E-A418A3CF4AAA}"/>
                  </a:ext>
                </a:extLst>
              </p:cNvPr>
              <p:cNvGrpSpPr/>
              <p:nvPr/>
            </p:nvGrpSpPr>
            <p:grpSpPr>
              <a:xfrm>
                <a:off x="4029679" y="2015497"/>
                <a:ext cx="4412615" cy="1832602"/>
                <a:chOff x="4645596" y="1613737"/>
                <a:chExt cx="3097327" cy="1286350"/>
              </a:xfrm>
            </p:grpSpPr>
            <p:sp>
              <p:nvSpPr>
                <p:cNvPr id="33" name="íşlïḋé">
                  <a:extLst>
                    <a:ext uri="{FF2B5EF4-FFF2-40B4-BE49-F238E27FC236}">
                      <a16:creationId xmlns:a16="http://schemas.microsoft.com/office/drawing/2014/main" id="{D97F214D-8BF5-8335-84A6-AC0B6370760A}"/>
                    </a:ext>
                  </a:extLst>
                </p:cNvPr>
                <p:cNvSpPr txBox="1"/>
                <p:nvPr/>
              </p:nvSpPr>
              <p:spPr>
                <a:xfrm>
                  <a:off x="5304374" y="1613737"/>
                  <a:ext cx="1583653" cy="71850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/>
                <a:lstStyle/>
                <a:p>
                  <a:pPr algn="ctr"/>
                  <a:r>
                    <a:rPr lang="en-US" sz="4400" spc="600" dirty="0">
                      <a:ln/>
                      <a:solidFill>
                        <a:srgbClr val="E3A195"/>
                      </a:solidFill>
                      <a:effectLst>
                        <a:innerShdw blurRad="63500" dist="50800" dir="13500000">
                          <a:srgbClr val="000000">
                            <a:alpha val="50000"/>
                          </a:srgbClr>
                        </a:innerShdw>
                      </a:effectLst>
                      <a:cs typeface="+mn-ea"/>
                      <a:sym typeface="+mn-lt"/>
                    </a:rPr>
                    <a:t>Part1</a:t>
                  </a:r>
                  <a:endParaRPr lang="en-US" altLang="zh-CN" sz="4400" spc="600" dirty="0">
                    <a:ln/>
                    <a:solidFill>
                      <a:srgbClr val="E3A195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îšḻíḓè">
                  <a:extLst>
                    <a:ext uri="{FF2B5EF4-FFF2-40B4-BE49-F238E27FC236}">
                      <a16:creationId xmlns:a16="http://schemas.microsoft.com/office/drawing/2014/main" id="{7535CD31-61F6-B6B2-BF02-2C2B318123C4}"/>
                    </a:ext>
                  </a:extLst>
                </p:cNvPr>
                <p:cNvSpPr txBox="1"/>
                <p:nvPr/>
              </p:nvSpPr>
              <p:spPr>
                <a:xfrm>
                  <a:off x="4645596" y="2354522"/>
                  <a:ext cx="3097327" cy="5455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noAutofit/>
                  <a:scene3d>
                    <a:camera prst="orthographicFront"/>
                    <a:lightRig rig="threePt" dir="t"/>
                  </a:scene3d>
                </a:bodyPr>
                <a:lstStyle/>
                <a:p>
                  <a:pPr algn="ctr"/>
                  <a:r>
                    <a:rPr lang="zh-CN" altLang="en-US" sz="6600" b="1" spc="1500" dirty="0">
                      <a:ln/>
                      <a:solidFill>
                        <a:schemeClr val="bg2"/>
                      </a:solidFill>
                      <a:effectLst>
                        <a:innerShdw blurRad="63500" dist="50800" dir="13500000">
                          <a:srgbClr val="000000">
                            <a:alpha val="50000"/>
                          </a:srgbClr>
                        </a:innerShdw>
                      </a:effectLst>
                      <a:cs typeface="+mn-ea"/>
                      <a:sym typeface="+mn-lt"/>
                    </a:rPr>
                    <a:t>论文介绍</a:t>
                  </a:r>
                </a:p>
              </p:txBody>
            </p:sp>
          </p:grpSp>
        </p:grp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25D52257-0DBA-058E-0D45-3C7C5EEAD28B}"/>
                </a:ext>
              </a:extLst>
            </p:cNvPr>
            <p:cNvSpPr/>
            <p:nvPr/>
          </p:nvSpPr>
          <p:spPr>
            <a:xfrm flipV="1">
              <a:off x="5803900" y="5354599"/>
              <a:ext cx="584200" cy="248367"/>
            </a:xfrm>
            <a:prstGeom prst="triangle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3" name="图片 2" descr="校徽+中英文（透明） 白色">
            <a:extLst>
              <a:ext uri="{FF2B5EF4-FFF2-40B4-BE49-F238E27FC236}">
                <a16:creationId xmlns:a16="http://schemas.microsoft.com/office/drawing/2014/main" id="{E6BA7EAE-B6E0-F2CE-99D6-D1EFAB707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735" y="23495"/>
            <a:ext cx="2012950" cy="6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C2DB6-E6D6-0B86-82EB-8819A763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5B5AD99-260B-16C0-D925-A380791F1FC8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EE5DD0F-DF14-F4A5-9234-F296254D69D2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3631100-93D5-492A-13D9-5EB7CC478A9E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AF7F8C8-CE7D-9367-3E4F-36825E6F8FAD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529F8281-E66D-F4ED-E0F7-4DDDEE6E96E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5338093" cy="5444098"/>
            <a:chOff x="420021" y="671488"/>
            <a:chExt cx="5338093" cy="5444098"/>
          </a:xfrm>
        </p:grpSpPr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7E891A99-DE3A-AF26-554C-13CFF9C24F2B}"/>
                </a:ext>
              </a:extLst>
            </p:cNvPr>
            <p:cNvCxnSpPr/>
            <p:nvPr/>
          </p:nvCxnSpPr>
          <p:spPr>
            <a:xfrm flipH="1">
              <a:off x="5753669" y="787936"/>
              <a:ext cx="4445" cy="5327650"/>
            </a:xfrm>
            <a:prstGeom prst="line">
              <a:avLst/>
            </a:prstGeom>
            <a:ln>
              <a:solidFill>
                <a:srgbClr val="2E6A7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8C57DFB5-EF27-5AB4-4992-F62FD9B69E80}"/>
                </a:ext>
              </a:extLst>
            </p:cNvPr>
            <p:cNvSpPr txBox="1"/>
            <p:nvPr/>
          </p:nvSpPr>
          <p:spPr>
            <a:xfrm>
              <a:off x="420021" y="671488"/>
              <a:ext cx="3692533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序列建模的困境：</a:t>
              </a:r>
              <a:r>
                <a:rPr lang="en-US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RNN</a:t>
              </a: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的局限性 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87C12EC5-86AC-8B78-CB51-FBC2007E4D96}"/>
                </a:ext>
              </a:extLst>
            </p:cNvPr>
            <p:cNvSpPr txBox="1"/>
            <p:nvPr/>
          </p:nvSpPr>
          <p:spPr>
            <a:xfrm>
              <a:off x="599096" y="1624867"/>
              <a:ext cx="5022287" cy="41190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主流模型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  <a:r>
                <a:rPr lang="en-US" altLang="zh-CN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RNN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LSTM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GRU + Seq2Seq + Attention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关键问题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：顺序计算→每个时间步依赖上一时刻输出，无法并行训练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长序列训练慢、显存受限→批次大小受限于序列长度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长距离依赖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：梯度消失</a:t>
              </a:r>
              <a:r>
                <a:rPr lang="en-US" altLang="zh-CN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/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爆炸→难以捕捉超过</a:t>
              </a:r>
              <a:r>
                <a:rPr lang="en-US" altLang="zh-CN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20~30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步的依赖关系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虽有</a:t>
              </a:r>
              <a:r>
                <a:rPr lang="en-US" altLang="zh-CN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Attention</a:t>
              </a:r>
              <a:r>
                <a:rPr lang="zh-CN" altLang="en-US" sz="16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辅助，但骨干仍是循环结构</a:t>
              </a:r>
              <a:endParaRPr lang="en-US" altLang="zh-CN" sz="1400" dirty="0">
                <a:solidFill>
                  <a:srgbClr val="0075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183BD074-03D0-2503-3FC5-CF3006C10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9851B8D-584C-9956-CDA7-909C6C321F77}"/>
              </a:ext>
            </a:extLst>
          </p:cNvPr>
          <p:cNvSpPr txBox="1"/>
          <p:nvPr/>
        </p:nvSpPr>
        <p:spPr>
          <a:xfrm>
            <a:off x="669925" y="337065"/>
            <a:ext cx="2153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研究背景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6B9C11-5A60-9845-7317-903711D265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15" y="1941175"/>
            <a:ext cx="5096712" cy="3114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iṣľîḋè">
            <a:extLst>
              <a:ext uri="{FF2B5EF4-FFF2-40B4-BE49-F238E27FC236}">
                <a16:creationId xmlns:a16="http://schemas.microsoft.com/office/drawing/2014/main" id="{F3DF6B74-BAD5-3DA3-4F38-A68C78EC029E}"/>
              </a:ext>
            </a:extLst>
          </p:cNvPr>
          <p:cNvSpPr txBox="1"/>
          <p:nvPr/>
        </p:nvSpPr>
        <p:spPr>
          <a:xfrm>
            <a:off x="6279940" y="5261849"/>
            <a:ext cx="5022287" cy="67219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fontScale="92500"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RNN</a:t>
            </a:r>
            <a:r>
              <a:rPr lang="zh-CN" altLang="en-US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按时间步展开的链式结构图（每个时间步依赖前一步）</a:t>
            </a:r>
            <a:endParaRPr lang="en-US" altLang="zh-CN" sz="1400" b="1" dirty="0">
              <a:solidFill>
                <a:srgbClr val="0075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684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C225-CF5C-188B-C805-514F1546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D8CC404-9C5A-4795-C177-36F33229A862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7D7BD3-D59E-433E-4AA1-9460BACEC9D4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AFF8DF6-32AC-CA69-86C2-F4F838FD376D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328FBD-A829-2E2E-41EB-F78B1E948972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2AD5FE26-571B-6E92-D941-58CC7A8C94F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11595735" cy="5298760"/>
            <a:chOff x="420021" y="671488"/>
            <a:chExt cx="11595735" cy="5298760"/>
          </a:xfrm>
        </p:grpSpPr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1F3317F1-069F-0C64-28FA-E18D9046A1B2}"/>
                </a:ext>
              </a:extLst>
            </p:cNvPr>
            <p:cNvSpPr txBox="1"/>
            <p:nvPr/>
          </p:nvSpPr>
          <p:spPr>
            <a:xfrm>
              <a:off x="420021" y="671488"/>
              <a:ext cx="3692533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动机（问题驱动）</a:t>
              </a: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5FDD10DC-940E-B93B-F528-603904FB8C2B}"/>
                </a:ext>
              </a:extLst>
            </p:cNvPr>
            <p:cNvSpPr txBox="1"/>
            <p:nvPr/>
          </p:nvSpPr>
          <p:spPr>
            <a:xfrm>
              <a:off x="671132" y="1268622"/>
              <a:ext cx="11344624" cy="47016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、现有模型（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RNN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LSTM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GRU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）虽为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SOTA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，但存在根本性顺序计算约束</a:t>
              </a: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zh-CN" altLang="en-US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、即便引入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Attention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，仍必须与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RNN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配合使用</a:t>
              </a: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3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、卷积模型（</a:t>
              </a:r>
              <a:r>
                <a:rPr lang="en-US" altLang="zh-CN" sz="1600" b="1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ByteNet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ConvS2S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）虽可并行，但连接远距离位置所需操作数随距离增长（线性或对数），学习长距离依赖</a:t>
              </a: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.  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困难</a:t>
              </a:r>
              <a:endParaRPr lang="en-US" altLang="zh-CN" sz="1400" dirty="0">
                <a:solidFill>
                  <a:srgbClr val="0075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6C95615B-46C2-A388-5C80-47C29A21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523E86F-9693-D329-097E-AF43A3D4F24E}"/>
              </a:ext>
            </a:extLst>
          </p:cNvPr>
          <p:cNvSpPr txBox="1"/>
          <p:nvPr/>
        </p:nvSpPr>
        <p:spPr>
          <a:xfrm>
            <a:off x="669924" y="337065"/>
            <a:ext cx="3846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论文动机与目标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D91FC54-8D27-4D7D-46F7-2782E8FE63F6}"/>
              </a:ext>
            </a:extLst>
          </p:cNvPr>
          <p:cNvGrpSpPr/>
          <p:nvPr/>
        </p:nvGrpSpPr>
        <p:grpSpPr>
          <a:xfrm>
            <a:off x="986439" y="2594354"/>
            <a:ext cx="9835890" cy="830093"/>
            <a:chOff x="1457003" y="2664821"/>
            <a:chExt cx="8265732" cy="73040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9E6B33F-79EB-7FF1-5C89-162473821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7003" y="2664821"/>
              <a:ext cx="8265732" cy="730403"/>
            </a:xfrm>
            <a:prstGeom prst="rect">
              <a:avLst/>
            </a:prstGeom>
          </p:spPr>
        </p:pic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545E3DD-5302-6735-99EF-BAA815B31EDC}"/>
                </a:ext>
              </a:extLst>
            </p:cNvPr>
            <p:cNvCxnSpPr/>
            <p:nvPr/>
          </p:nvCxnSpPr>
          <p:spPr>
            <a:xfrm>
              <a:off x="8403219" y="2858947"/>
              <a:ext cx="1224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B18392C-3B3D-17C2-243D-72235AE73588}"/>
                </a:ext>
              </a:extLst>
            </p:cNvPr>
            <p:cNvCxnSpPr>
              <a:cxnSpLocks/>
            </p:cNvCxnSpPr>
            <p:nvPr/>
          </p:nvCxnSpPr>
          <p:spPr>
            <a:xfrm>
              <a:off x="1457003" y="3115519"/>
              <a:ext cx="350853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EA7250A-2377-58B1-26A5-CE53842551E3}"/>
              </a:ext>
            </a:extLst>
          </p:cNvPr>
          <p:cNvGrpSpPr/>
          <p:nvPr/>
        </p:nvGrpSpPr>
        <p:grpSpPr>
          <a:xfrm>
            <a:off x="986439" y="4168029"/>
            <a:ext cx="9835890" cy="615659"/>
            <a:chOff x="986439" y="4277730"/>
            <a:chExt cx="9835890" cy="615659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6742BEC-BF5B-3B59-6482-92ED89CEB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6439" y="4277730"/>
              <a:ext cx="9835890" cy="615659"/>
            </a:xfrm>
            <a:prstGeom prst="rect">
              <a:avLst/>
            </a:prstGeom>
          </p:spPr>
        </p:pic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A132086-2638-E691-50AF-F33D47679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489" y="4585559"/>
              <a:ext cx="6069180" cy="425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D00BA07-8F02-8030-4A21-633C2298CF2A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48" y="4847089"/>
              <a:ext cx="4788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87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B741-FF14-FE62-E7A4-C23E30F3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7E2EDFC-EC7F-06E6-4591-4582971FBC87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8E6EFB3-D01E-9755-7C0C-BEDB9C99A2B8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5A84C53-7E00-98B4-F11A-D1814DEDBE3A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EEEAAAC-A918-2E88-1CF8-A42E784C7EDA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AAE40F52-70FB-E7C5-6E30-EF19CBDFBFA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11533567" cy="4966384"/>
            <a:chOff x="420021" y="671488"/>
            <a:chExt cx="11533567" cy="4966384"/>
          </a:xfrm>
        </p:grpSpPr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557835C8-1DC6-2EFF-319E-DC9FAF5B4D76}"/>
                </a:ext>
              </a:extLst>
            </p:cNvPr>
            <p:cNvSpPr txBox="1"/>
            <p:nvPr/>
          </p:nvSpPr>
          <p:spPr>
            <a:xfrm>
              <a:off x="420021" y="671488"/>
              <a:ext cx="3692533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目标与解决方案</a:t>
              </a: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98F046AD-E740-0A6B-3CD3-8AE294792C69}"/>
                </a:ext>
              </a:extLst>
            </p:cNvPr>
            <p:cNvSpPr txBox="1"/>
            <p:nvPr/>
          </p:nvSpPr>
          <p:spPr>
            <a:xfrm>
              <a:off x="608964" y="936246"/>
              <a:ext cx="11344624" cy="47016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核心思想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：完全基于注意力机制，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舍弃循环与卷积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"eschewing recurrence and relying entirely on an attention mechanism"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</a:p>
            <a:p>
              <a:pPr>
                <a:lnSpc>
                  <a:spcPct val="150000"/>
                </a:lnSpc>
                <a:buSzPct val="25000"/>
              </a:pPr>
              <a:endPara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三个具体目标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高并行度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→ 训练速度快（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base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模型：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12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小时 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/ 8 GPU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直接建模长距离依赖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→ 路径长度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O(1)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（对比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RNN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的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O(n)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翻译质量超越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SOTA 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→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英德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28.4 BLEU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（超之前最佳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&gt;2 BLEU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  <a:endParaRPr lang="en-US" altLang="zh-CN" sz="1600" dirty="0">
                <a:solidFill>
                  <a:srgbClr val="0075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861DBA4B-1CFD-DC57-9A05-06564FEA3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C905BB4-1D43-576F-F670-DD94E15B5ED8}"/>
              </a:ext>
            </a:extLst>
          </p:cNvPr>
          <p:cNvSpPr txBox="1"/>
          <p:nvPr/>
        </p:nvSpPr>
        <p:spPr>
          <a:xfrm>
            <a:off x="669924" y="337065"/>
            <a:ext cx="3846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论文动机与目标</a:t>
            </a:r>
          </a:p>
        </p:txBody>
      </p:sp>
    </p:spTree>
    <p:extLst>
      <p:ext uri="{BB962C8B-B14F-4D97-AF65-F5344CB8AC3E}">
        <p14:creationId xmlns:p14="http://schemas.microsoft.com/office/powerpoint/2010/main" val="138175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EEE7-0AC1-C18E-1AA7-F416137F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BC4F6E1-181F-9E61-FEEE-A8621839DD53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70BD5E5-4ECB-7D59-F824-5412C4AAB6CE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AA65D98-0C88-288A-3FA4-FEE6AE24DC1F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84043FC-98F1-C7BC-8130-62EDD5FD002C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0EBF35E4-11CF-BD3F-8A9A-C540E6F63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D18B58B-7F0B-180A-8D61-AF36E0248842}"/>
              </a:ext>
            </a:extLst>
          </p:cNvPr>
          <p:cNvSpPr txBox="1"/>
          <p:nvPr/>
        </p:nvSpPr>
        <p:spPr>
          <a:xfrm>
            <a:off x="669924" y="337065"/>
            <a:ext cx="4990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Transformer  vs  RNN</a:t>
            </a:r>
            <a:r>
              <a:rPr lang="en-US" altLang="zh-CN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3200" b="1" spc="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3205CED-BFD4-27E2-8E13-6B00D851A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751052"/>
              </p:ext>
            </p:extLst>
          </p:nvPr>
        </p:nvGraphicFramePr>
        <p:xfrm>
          <a:off x="987850" y="1549922"/>
          <a:ext cx="10216299" cy="43442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405433">
                  <a:extLst>
                    <a:ext uri="{9D8B030D-6E8A-4147-A177-3AD203B41FA5}">
                      <a16:colId xmlns:a16="http://schemas.microsoft.com/office/drawing/2014/main" val="1292324708"/>
                    </a:ext>
                  </a:extLst>
                </a:gridCol>
                <a:gridCol w="3405433">
                  <a:extLst>
                    <a:ext uri="{9D8B030D-6E8A-4147-A177-3AD203B41FA5}">
                      <a16:colId xmlns:a16="http://schemas.microsoft.com/office/drawing/2014/main" val="434824976"/>
                    </a:ext>
                  </a:extLst>
                </a:gridCol>
                <a:gridCol w="3405433">
                  <a:extLst>
                    <a:ext uri="{9D8B030D-6E8A-4147-A177-3AD203B41FA5}">
                      <a16:colId xmlns:a16="http://schemas.microsoft.com/office/drawing/2014/main" val="3213036630"/>
                    </a:ext>
                  </a:extLst>
                </a:gridCol>
              </a:tblGrid>
              <a:tr h="8688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对比图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RNN/LSTM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Transformer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204020"/>
                  </a:ext>
                </a:extLst>
              </a:tr>
              <a:tr h="8688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计算模式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顺序（</a:t>
                      </a:r>
                      <a:r>
                        <a:rPr lang="en-US" altLang="zh-CN" sz="2000" dirty="0"/>
                        <a:t>t</a:t>
                      </a:r>
                      <a:r>
                        <a:rPr lang="zh-CN" altLang="en-US" sz="2000" dirty="0"/>
                        <a:t>时刻依赖</a:t>
                      </a:r>
                      <a:r>
                        <a:rPr lang="en-US" altLang="zh-CN" sz="2000" dirty="0"/>
                        <a:t>t-1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并行（所有位置同时）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983578"/>
                  </a:ext>
                </a:extLst>
              </a:tr>
              <a:tr h="8688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最大路径长度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O(n)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O(1)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860308"/>
                  </a:ext>
                </a:extLst>
              </a:tr>
              <a:tr h="8688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长距离依赖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难学习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直接建模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58807"/>
                  </a:ext>
                </a:extLst>
              </a:tr>
              <a:tr h="8688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训练速度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快（</a:t>
                      </a:r>
                      <a:r>
                        <a:rPr lang="en-US" altLang="zh-CN" sz="2000" dirty="0"/>
                        <a:t>12</a:t>
                      </a:r>
                      <a:r>
                        <a:rPr lang="zh-CN" altLang="en-US" sz="2000" dirty="0"/>
                        <a:t>小时达</a:t>
                      </a:r>
                      <a:r>
                        <a:rPr lang="en-US" altLang="zh-CN" sz="2000" dirty="0"/>
                        <a:t>SOTA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982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97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E51E-3686-1EAA-A5E4-5DB98D5C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C833655-B47F-7F1E-DE61-C7D9805CB7E0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F4FC14-B0A0-B80C-ACB8-7263DB1826D3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8BB7FE4-D8E5-120D-FAB7-F591CEFF2FAC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75ACC37-0A22-75CE-0B3B-5EDF3521BA48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893AAB18-F53B-69CE-9EB4-BCFA08EE150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5508339" cy="5444098"/>
            <a:chOff x="420021" y="671488"/>
            <a:chExt cx="5508339" cy="5444098"/>
          </a:xfrm>
        </p:grpSpPr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BD476E17-084C-BEA1-D004-2784E46BF6AF}"/>
                </a:ext>
              </a:extLst>
            </p:cNvPr>
            <p:cNvCxnSpPr/>
            <p:nvPr/>
          </p:nvCxnSpPr>
          <p:spPr>
            <a:xfrm flipH="1">
              <a:off x="5753669" y="787936"/>
              <a:ext cx="4445" cy="5327650"/>
            </a:xfrm>
            <a:prstGeom prst="line">
              <a:avLst/>
            </a:prstGeom>
            <a:ln>
              <a:solidFill>
                <a:srgbClr val="2E6A7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5987D7D7-346B-9F3A-B7B5-993BC8C53795}"/>
                </a:ext>
              </a:extLst>
            </p:cNvPr>
            <p:cNvSpPr txBox="1"/>
            <p:nvPr/>
          </p:nvSpPr>
          <p:spPr>
            <a:xfrm>
              <a:off x="420021" y="671488"/>
              <a:ext cx="5508339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en-US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Transformer </a:t>
              </a: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总览：</a:t>
              </a:r>
              <a:r>
                <a:rPr lang="en-US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Encoder + Decoder </a:t>
              </a: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堆叠结构</a:t>
              </a:r>
              <a:endParaRPr lang="zh-CN" altLang="en-US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872A3B8C-D7E1-0E7F-BED8-0CCFCDE8C2EE}"/>
                </a:ext>
              </a:extLst>
            </p:cNvPr>
            <p:cNvSpPr txBox="1"/>
            <p:nvPr/>
          </p:nvSpPr>
          <p:spPr>
            <a:xfrm>
              <a:off x="757059" y="1349169"/>
              <a:ext cx="5022287" cy="42771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zh-CN" altLang="en-US" sz="22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架构概览（参数与堆叠）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整体结构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Encoder-Decoder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（继承自经典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Seq2Seq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，但内部完全不同）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Encoder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N = 6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个相同层堆叠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Decoder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N = 6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个相同层堆叠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维度统一：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所有子层、嵌入层输出均为 </a:t>
              </a:r>
              <a:r>
                <a:rPr lang="en-US" altLang="zh-CN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d_model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= 512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FFN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内层维度：</a:t>
              </a:r>
              <a:r>
                <a:rPr lang="en-US" altLang="zh-CN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d_ff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= 2048</a:t>
              </a:r>
              <a:endParaRPr lang="en-US" altLang="zh-CN" sz="1600" dirty="0">
                <a:solidFill>
                  <a:srgbClr val="0075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C4876BE0-6544-E939-5A6B-444891CA6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E1707F9-C5B9-C638-0933-5F5E72A2D8CC}"/>
              </a:ext>
            </a:extLst>
          </p:cNvPr>
          <p:cNvSpPr txBox="1"/>
          <p:nvPr/>
        </p:nvSpPr>
        <p:spPr>
          <a:xfrm>
            <a:off x="669925" y="337065"/>
            <a:ext cx="2153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整体架构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50D1CA5-996A-4F87-AC9F-600413179A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7992" y="1343439"/>
            <a:ext cx="3045711" cy="48687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05440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2A6B-096C-73FF-A0AC-F1E653A4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289C068-771B-E2C8-C30D-E4290F9A3F10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357BB34-06D4-8B14-3D8B-1F09A491D0B5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4F72B88-CD27-35B1-3437-D0B7E5F3C327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B9AB5FB-CCC9-DBB6-212B-CADF004E22B4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C9DCB0BA-8166-816A-91F8-B1E980537B0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5508339" cy="5444098"/>
            <a:chOff x="420021" y="671488"/>
            <a:chExt cx="5508339" cy="5444098"/>
          </a:xfrm>
        </p:grpSpPr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1A993377-9945-1955-255B-03C491DC6C6C}"/>
                </a:ext>
              </a:extLst>
            </p:cNvPr>
            <p:cNvCxnSpPr/>
            <p:nvPr/>
          </p:nvCxnSpPr>
          <p:spPr>
            <a:xfrm flipH="1">
              <a:off x="5753669" y="787936"/>
              <a:ext cx="4445" cy="5327650"/>
            </a:xfrm>
            <a:prstGeom prst="line">
              <a:avLst/>
            </a:prstGeom>
            <a:ln>
              <a:solidFill>
                <a:srgbClr val="2E6A7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B3269E23-9651-14E4-3865-5AA264F26577}"/>
                </a:ext>
              </a:extLst>
            </p:cNvPr>
            <p:cNvSpPr txBox="1"/>
            <p:nvPr/>
          </p:nvSpPr>
          <p:spPr>
            <a:xfrm>
              <a:off x="420021" y="671488"/>
              <a:ext cx="5508339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en-US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Transformer </a:t>
              </a: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总览：</a:t>
              </a:r>
              <a:r>
                <a:rPr lang="en-US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Encoder + Decoder </a:t>
              </a: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堆叠结构</a:t>
              </a:r>
              <a:endParaRPr lang="zh-CN" altLang="en-US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9EB937CC-55CA-B27C-B3CC-8A11152318B4}"/>
                </a:ext>
              </a:extLst>
            </p:cNvPr>
            <p:cNvSpPr txBox="1"/>
            <p:nvPr/>
          </p:nvSpPr>
          <p:spPr>
            <a:xfrm>
              <a:off x="731382" y="1466751"/>
              <a:ext cx="5022287" cy="42771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 fontScale="85000" lnSpcReduction="10000"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zh-CN" altLang="en-US" sz="22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每个层包含的子层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Encoder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层（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个子层）：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1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Multi-Head Self-Attention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2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Position-wise Feed Forward Network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Decoder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层（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3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个子层）：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1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Masked Multi-Head Self-Attention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：防止看到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未来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2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Multi-Head Cross-Attention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来自解码器，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  K,V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来自编码器输出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3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Position-wise Feed Forward Network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每个子层后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：残差连接 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+ Layer Normalization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公式：</a:t>
              </a:r>
              <a:r>
                <a:rPr lang="en-US" altLang="zh-CN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LayerNorm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(x + Sublayer(x))</a:t>
              </a:r>
              <a:endParaRPr lang="en-US" altLang="zh-CN" sz="1600" dirty="0">
                <a:solidFill>
                  <a:srgbClr val="0075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B5E06545-D770-0274-D85D-96612692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55E0091-D388-5730-7E88-44F1A1D8921C}"/>
              </a:ext>
            </a:extLst>
          </p:cNvPr>
          <p:cNvSpPr txBox="1"/>
          <p:nvPr/>
        </p:nvSpPr>
        <p:spPr>
          <a:xfrm>
            <a:off x="669925" y="337065"/>
            <a:ext cx="2153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整体架构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5C7DDF-EB07-7D46-D7F5-013B74D9B1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7992" y="1343439"/>
            <a:ext cx="3045711" cy="48687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6563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2E18-E89A-32C0-CA82-B05B5149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362130C-A57E-9A91-A455-B02B36F26CB5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FF4C529-5D14-E0CC-62B2-C7CB326A8711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A87BF2F-3EB4-3C51-CDA5-CF5619057128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98130C8-2819-31C6-1012-F2DA0D65F141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78117143-7897-8415-C5DF-EF27B36D233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5508339" cy="5444098"/>
            <a:chOff x="420021" y="671488"/>
            <a:chExt cx="5508339" cy="5444098"/>
          </a:xfrm>
        </p:grpSpPr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59F1A7C5-6946-EF70-9450-2595C6365C61}"/>
                </a:ext>
              </a:extLst>
            </p:cNvPr>
            <p:cNvCxnSpPr/>
            <p:nvPr/>
          </p:nvCxnSpPr>
          <p:spPr>
            <a:xfrm flipH="1">
              <a:off x="5753669" y="787936"/>
              <a:ext cx="4445" cy="5327650"/>
            </a:xfrm>
            <a:prstGeom prst="line">
              <a:avLst/>
            </a:prstGeom>
            <a:ln>
              <a:solidFill>
                <a:srgbClr val="2E6A7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572BA96D-A803-ED50-887C-7C2BB3CFB88D}"/>
                </a:ext>
              </a:extLst>
            </p:cNvPr>
            <p:cNvSpPr txBox="1"/>
            <p:nvPr/>
          </p:nvSpPr>
          <p:spPr>
            <a:xfrm>
              <a:off x="420021" y="671488"/>
              <a:ext cx="5508339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注意力机制的核心公式</a:t>
              </a:r>
              <a:endParaRPr lang="zh-CN" altLang="en-US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84033EAB-23D6-3CCC-7210-259227CA4A30}"/>
                </a:ext>
              </a:extLst>
            </p:cNvPr>
            <p:cNvSpPr txBox="1"/>
            <p:nvPr/>
          </p:nvSpPr>
          <p:spPr>
            <a:xfrm>
              <a:off x="757059" y="1349168"/>
              <a:ext cx="5022287" cy="44763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输入：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（查询）、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K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（键）、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V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（值）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公式</a:t>
              </a: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为什么除以根号（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</a:t>
              </a:r>
              <a:r>
                <a:rPr lang="en-US" altLang="zh-CN" b="1" baseline="-25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k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dirty="0">
                  <a:solidFill>
                    <a:srgbClr val="00758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lt"/>
                </a:rPr>
                <a:t>     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防止点积过大 → </a:t>
              </a:r>
              <a:r>
                <a:rPr lang="en-US" altLang="zh-CN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softmax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梯度极小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矩阵化计算：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并行高效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98EB7B46-487B-3202-5E21-7B2E156B0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37627C-4CC0-9A4E-6E23-027F99CCC158}"/>
              </a:ext>
            </a:extLst>
          </p:cNvPr>
          <p:cNvSpPr txBox="1"/>
          <p:nvPr/>
        </p:nvSpPr>
        <p:spPr>
          <a:xfrm>
            <a:off x="447040" y="313408"/>
            <a:ext cx="6020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Scaled Dot-Product Attention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F6E89F-020E-788A-4AAC-22772795F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649" y="3166060"/>
            <a:ext cx="4391025" cy="8953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296D9E-5C7F-A8CB-C792-10E51F4A63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2339" y="1540395"/>
            <a:ext cx="3663345" cy="44202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4669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1B0E-F384-1ADA-BF6F-B09C756E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7115EB-3211-3583-207F-3F59C327AD24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684F6B-1F8C-74C1-8BF2-B59A116934DF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66120EB-2B96-2962-4D59-757A707224EF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A3CE075-3FC8-7441-F3A7-EBB8B6369069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F93E02BF-AB14-E102-147C-6521C6108C7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5508339" cy="5444098"/>
            <a:chOff x="420021" y="671488"/>
            <a:chExt cx="5508339" cy="5444098"/>
          </a:xfrm>
        </p:grpSpPr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9E87D25A-CEB5-AD59-81D7-DCD70F2B895F}"/>
                </a:ext>
              </a:extLst>
            </p:cNvPr>
            <p:cNvCxnSpPr/>
            <p:nvPr/>
          </p:nvCxnSpPr>
          <p:spPr>
            <a:xfrm flipH="1">
              <a:off x="5753669" y="787936"/>
              <a:ext cx="4445" cy="5327650"/>
            </a:xfrm>
            <a:prstGeom prst="line">
              <a:avLst/>
            </a:prstGeom>
            <a:ln>
              <a:solidFill>
                <a:srgbClr val="2E6A7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20EE7FEE-2F44-551D-3AF1-FC51FD37E3D1}"/>
                </a:ext>
              </a:extLst>
            </p:cNvPr>
            <p:cNvSpPr txBox="1"/>
            <p:nvPr/>
          </p:nvSpPr>
          <p:spPr>
            <a:xfrm>
              <a:off x="420021" y="671488"/>
              <a:ext cx="5508339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多头注意力：从不同子空间联合学习</a:t>
              </a:r>
              <a:endParaRPr lang="zh-CN" altLang="en-US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71E5D476-4EC7-D1F8-EF02-11661A5A29C7}"/>
                </a:ext>
              </a:extLst>
            </p:cNvPr>
            <p:cNvSpPr txBox="1"/>
            <p:nvPr/>
          </p:nvSpPr>
          <p:spPr>
            <a:xfrm>
              <a:off x="575702" y="1032109"/>
              <a:ext cx="5022287" cy="44763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将</a:t>
              </a: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K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V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线性投影 </a:t>
              </a: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h 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次（</a:t>
              </a: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h=8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每个头独立计算注意力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拼接后再次投影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公式：</a:t>
              </a:r>
              <a:endParaRPr lang="en-US" altLang="zh-CN" sz="20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20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好处：捕捉不同位置的多种语义关系</a:t>
              </a:r>
              <a:endParaRPr lang="en-US" altLang="zh-CN" sz="2000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3B04DDD4-3D32-C26E-DEC8-4793BAD94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1553D47-632C-4ED6-D4A6-9A4DC9225A5B}"/>
              </a:ext>
            </a:extLst>
          </p:cNvPr>
          <p:cNvSpPr txBox="1"/>
          <p:nvPr/>
        </p:nvSpPr>
        <p:spPr>
          <a:xfrm>
            <a:off x="447040" y="313408"/>
            <a:ext cx="6020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Multi-Head Attention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AF30A8-58B1-A706-5C6E-DE9FAA063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12" y="4075879"/>
            <a:ext cx="4759037" cy="3384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80CCE13-9C98-BF92-DD27-B3725589AA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76395" y="1435555"/>
            <a:ext cx="3398660" cy="4572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8665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9073-C812-0B48-7FBF-09D7D77D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4ED1F02-51D7-8E6F-43CD-5648D4AE58B4}"/>
              </a:ext>
            </a:extLst>
          </p:cNvPr>
          <p:cNvSpPr/>
          <p:nvPr/>
        </p:nvSpPr>
        <p:spPr>
          <a:xfrm>
            <a:off x="303530" y="975219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B94B612-1C73-A931-9C4A-8CA577DE220B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CE00783-7CCA-5B72-37FF-2423FF835E8F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8B2336-73CF-5750-5E1F-03B501ECAE6E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D0C88E39-3624-1970-14A2-84B75AD7E36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47040" y="945808"/>
            <a:ext cx="5542280" cy="4966384"/>
            <a:chOff x="386080" y="671488"/>
            <a:chExt cx="5542280" cy="4966384"/>
          </a:xfrm>
        </p:grpSpPr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AAC3AB79-C500-CEFC-960A-9B475CAC5613}"/>
                </a:ext>
              </a:extLst>
            </p:cNvPr>
            <p:cNvSpPr txBox="1"/>
            <p:nvPr/>
          </p:nvSpPr>
          <p:spPr>
            <a:xfrm>
              <a:off x="420021" y="671488"/>
              <a:ext cx="5508339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fr-FR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Transformer</a:t>
              </a:r>
              <a:r>
                <a:rPr lang="zh-CN" altLang="fr-FR" b="1" dirty="0">
                  <a:solidFill>
                    <a:srgbClr val="2E6A70"/>
                  </a:solidFill>
                  <a:cs typeface="+mn-ea"/>
                  <a:sym typeface="+mn-lt"/>
                </a:rPr>
                <a:t>中的三种</a:t>
              </a:r>
              <a:r>
                <a:rPr lang="fr-FR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Attention</a:t>
              </a:r>
              <a:r>
                <a:rPr lang="zh-CN" altLang="fr-FR" b="1" dirty="0">
                  <a:solidFill>
                    <a:srgbClr val="2E6A70"/>
                  </a:solidFill>
                  <a:cs typeface="+mn-ea"/>
                  <a:sym typeface="+mn-lt"/>
                </a:rPr>
                <a:t>角色</a:t>
              </a:r>
              <a:endParaRPr lang="zh-CN" altLang="en-US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C37400F3-0214-3C50-D6C8-803CCE969B98}"/>
                </a:ext>
              </a:extLst>
            </p:cNvPr>
            <p:cNvSpPr txBox="1"/>
            <p:nvPr/>
          </p:nvSpPr>
          <p:spPr>
            <a:xfrm>
              <a:off x="386080" y="1161503"/>
              <a:ext cx="4850174" cy="44763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Encoder Self-Attention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1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Q,K,V 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均来自上一层输出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、每个位置关注输入所有位置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Decoder Self-Attention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（</a:t>
              </a: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Masked</a:t>
              </a:r>
              <a:r>
                <a:rPr lang="zh-CN" altLang="en-US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防止看到未来信息（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mask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设为 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-∞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）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en-US" altLang="zh-CN" sz="2000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Encoder-Decoder Attention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1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Q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来自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Decoder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K,V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来自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Encoder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</a:t>
              </a:r>
              <a:r>
                <a:rPr lang="en-US" altLang="zh-CN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zh-CN" altLang="en-US" sz="2000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、让解码器关注输入序列</a:t>
              </a:r>
              <a:endParaRPr lang="en-US" altLang="zh-CN" sz="2000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5ACBF3BC-0589-3159-D443-9B7EB615B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CEE2953-466A-4160-0C19-FB51CF556C8C}"/>
              </a:ext>
            </a:extLst>
          </p:cNvPr>
          <p:cNvSpPr txBox="1"/>
          <p:nvPr/>
        </p:nvSpPr>
        <p:spPr>
          <a:xfrm>
            <a:off x="447040" y="313408"/>
            <a:ext cx="6020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三种注意力使用方式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162D3C-80E9-9CCD-5C9F-F7B351660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4099" y="2114539"/>
            <a:ext cx="6570861" cy="7952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641A5AC-6717-6DF0-068E-F22420ECC9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4099" y="3302756"/>
            <a:ext cx="6570860" cy="11223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0561806-F196-B895-66CE-ABB51C9B3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4099" y="4566638"/>
            <a:ext cx="6570860" cy="1105475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B746BDE-8836-C5E6-F5C3-8B6662F19007}"/>
              </a:ext>
            </a:extLst>
          </p:cNvPr>
          <p:cNvCxnSpPr>
            <a:cxnSpLocks/>
          </p:cNvCxnSpPr>
          <p:nvPr/>
        </p:nvCxnSpPr>
        <p:spPr>
          <a:xfrm>
            <a:off x="3760237" y="2201675"/>
            <a:ext cx="1694632" cy="1316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F778473-BBDB-7EE1-E4D0-147AF1F319B1}"/>
              </a:ext>
            </a:extLst>
          </p:cNvPr>
          <p:cNvCxnSpPr>
            <a:cxnSpLocks/>
          </p:cNvCxnSpPr>
          <p:nvPr/>
        </p:nvCxnSpPr>
        <p:spPr>
          <a:xfrm>
            <a:off x="4798002" y="3540787"/>
            <a:ext cx="642722" cy="200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AF8FF54-2A1A-DB7F-96D3-EED3D7022B20}"/>
              </a:ext>
            </a:extLst>
          </p:cNvPr>
          <p:cNvCxnSpPr>
            <a:cxnSpLocks/>
          </p:cNvCxnSpPr>
          <p:nvPr/>
        </p:nvCxnSpPr>
        <p:spPr>
          <a:xfrm>
            <a:off x="4107163" y="4484697"/>
            <a:ext cx="1333561" cy="2871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29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230B9-4551-75DE-55BA-D9DBFAB1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B18DAD8-D3D7-FB70-A40E-D1F7D6B40E03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48BB528-7F25-719E-E8A2-008318BA454C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FA5BEF8-AC88-E7A1-8D50-0202649E08E0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12E853-E66E-D64E-90C0-A3E42DB443B0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0CBD2B2E-C5FF-147E-BB84-F21D925BA60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11533567" cy="4966384"/>
            <a:chOff x="420021" y="671488"/>
            <a:chExt cx="11533567" cy="4966384"/>
          </a:xfrm>
        </p:grpSpPr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D771A259-AB2C-9C37-D902-B7D83659999B}"/>
                </a:ext>
              </a:extLst>
            </p:cNvPr>
            <p:cNvSpPr txBox="1"/>
            <p:nvPr/>
          </p:nvSpPr>
          <p:spPr>
            <a:xfrm>
              <a:off x="420021" y="671488"/>
              <a:ext cx="3692533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位置前馈网络 </a:t>
              </a:r>
              <a:r>
                <a:rPr lang="en-US" altLang="zh-CN" b="1" dirty="0">
                  <a:solidFill>
                    <a:srgbClr val="2E6A70"/>
                  </a:solidFill>
                  <a:cs typeface="+mn-ea"/>
                  <a:sym typeface="+mn-lt"/>
                </a:rPr>
                <a:t>+ </a:t>
              </a: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训练稳定性组件 </a:t>
              </a: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8110D0CC-415B-48A9-FD90-7C9D55701628}"/>
                </a:ext>
              </a:extLst>
            </p:cNvPr>
            <p:cNvSpPr txBox="1"/>
            <p:nvPr/>
          </p:nvSpPr>
          <p:spPr>
            <a:xfrm>
              <a:off x="608964" y="936246"/>
              <a:ext cx="11344624" cy="47016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100000"/>
                <a:buFont typeface="Wingdings" pitchFamily="2" charset="2"/>
                <a:buChar char="n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FNN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：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sz="1600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    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   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两个线性层 </a:t>
              </a: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+ </a:t>
              </a:r>
              <a:r>
                <a:rPr lang="en-US" altLang="zh-CN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ReLU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    每个位置独立、相同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SzPct val="100000"/>
                <a:buFont typeface="Wingdings" pitchFamily="2" charset="2"/>
                <a:buChar char="n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残差连接：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  <a:p>
              <a:pPr>
                <a:lnSpc>
                  <a:spcPct val="150000"/>
                </a:lnSpc>
                <a:buSzPct val="25000"/>
              </a:pP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    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    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层归一化（</a:t>
              </a:r>
              <a:r>
                <a:rPr lang="en-US" altLang="zh-CN" dirty="0" err="1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LayerNorm</a:t>
              </a:r>
              <a:r>
                <a:rPr lang="zh-CN" altLang="en-US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）：利于变长序列</a:t>
              </a:r>
              <a:endPara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04A5A968-BE97-46AC-B2DF-2C98B9725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8FC8DF6-2162-9F79-E8E1-3685AA6CBDBA}"/>
              </a:ext>
            </a:extLst>
          </p:cNvPr>
          <p:cNvSpPr txBox="1"/>
          <p:nvPr/>
        </p:nvSpPr>
        <p:spPr>
          <a:xfrm>
            <a:off x="669924" y="337065"/>
            <a:ext cx="5426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FFN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、残差与层归一化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5B798BD-7C2E-2661-B955-3345AECA2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386" y="1968359"/>
            <a:ext cx="5662449" cy="79274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08DD0FE-686B-A22F-CB1A-7FB71FCA53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385" y="4096899"/>
            <a:ext cx="5662449" cy="80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12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49BE-08F8-B9A2-B69F-D30C6745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1D9C126-895B-5075-8CBC-D07958670423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7FB0E63-CE79-CD3C-95D7-C65FA989E91D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044FF14-0A43-AC4D-9007-F776EB74C91D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3E2657-3E80-8ECD-15C0-64973EF4DE59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61F4C752-862D-52B5-5926-ABEC201725D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11533567" cy="4966384"/>
            <a:chOff x="420021" y="671488"/>
            <a:chExt cx="11533567" cy="4966384"/>
          </a:xfrm>
        </p:grpSpPr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CEA9C168-6ABE-89EE-D16B-94BB257918BE}"/>
                </a:ext>
              </a:extLst>
            </p:cNvPr>
            <p:cNvSpPr txBox="1"/>
            <p:nvPr/>
          </p:nvSpPr>
          <p:spPr>
            <a:xfrm>
              <a:off x="420021" y="671488"/>
              <a:ext cx="3692533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没有时序，如何表达位置？</a:t>
              </a: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22A5FEE0-291A-67ED-2892-B90DFB85CA06}"/>
                </a:ext>
              </a:extLst>
            </p:cNvPr>
            <p:cNvSpPr txBox="1"/>
            <p:nvPr/>
          </p:nvSpPr>
          <p:spPr>
            <a:xfrm>
              <a:off x="608964" y="936246"/>
              <a:ext cx="11344624" cy="47016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原因：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Attention 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本身是位置无关的（置换不变）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解决方法：在输入嵌入中加入位置编码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论文采用 正弦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/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余弦函数：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rPr>
                <a:t>优点：可外推至更长序列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139B1F2E-755F-CCE6-B94A-D947FDBBD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BE8B14-98C3-CCB9-5B36-8DBF91118E9C}"/>
              </a:ext>
            </a:extLst>
          </p:cNvPr>
          <p:cNvSpPr txBox="1"/>
          <p:nvPr/>
        </p:nvSpPr>
        <p:spPr>
          <a:xfrm>
            <a:off x="669924" y="337065"/>
            <a:ext cx="5426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Positional Encoding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F86169-1869-2A15-CDDC-52A54AC52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273" y="3722052"/>
            <a:ext cx="3723888" cy="11835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677B1B2-A9EE-9CDF-44C7-3BB7C1121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273" y="2170529"/>
            <a:ext cx="6629400" cy="6858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AEA300E-E862-5FA3-E64B-3B42D32A5B8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479931" y="2104718"/>
            <a:ext cx="2377342" cy="4087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66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A514-7669-724E-3217-C1E8D93F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2D831D5-59DF-8C62-9941-1542F592874B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0041EB6-2FAE-1F43-EA0C-08ABD64AD833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D8018C6-EE82-81AA-5923-3C1CC7E2C631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BA8986E-9A44-6847-1DE7-A1CF45FE4B34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5" name="1209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050AE2D0-B3ED-9530-02B0-1E04E612C8F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80981" y="945808"/>
            <a:ext cx="11533567" cy="4891476"/>
            <a:chOff x="420021" y="671488"/>
            <a:chExt cx="11533567" cy="4891476"/>
          </a:xfrm>
        </p:grpSpPr>
        <p:sp>
          <p:nvSpPr>
            <p:cNvPr id="174" name="îṧlíḍé">
              <a:extLst>
                <a:ext uri="{FF2B5EF4-FFF2-40B4-BE49-F238E27FC236}">
                  <a16:creationId xmlns:a16="http://schemas.microsoft.com/office/drawing/2014/main" id="{2772DA24-489F-2033-69AC-CCA83E01361F}"/>
                </a:ext>
              </a:extLst>
            </p:cNvPr>
            <p:cNvSpPr txBox="1"/>
            <p:nvPr/>
          </p:nvSpPr>
          <p:spPr>
            <a:xfrm>
              <a:off x="420021" y="671488"/>
              <a:ext cx="3692533" cy="795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zh-CN" altLang="en-US" b="1" dirty="0">
                  <a:solidFill>
                    <a:srgbClr val="2E6A70"/>
                  </a:solidFill>
                  <a:cs typeface="+mn-ea"/>
                  <a:sym typeface="+mn-lt"/>
                </a:rPr>
                <a:t>核心贡献：</a:t>
              </a:r>
            </a:p>
          </p:txBody>
        </p:sp>
        <p:sp>
          <p:nvSpPr>
            <p:cNvPr id="175" name="iṣľîḋè">
              <a:extLst>
                <a:ext uri="{FF2B5EF4-FFF2-40B4-BE49-F238E27FC236}">
                  <a16:creationId xmlns:a16="http://schemas.microsoft.com/office/drawing/2014/main" id="{4E8D8EA8-A004-9BF6-2191-B844F813B651}"/>
                </a:ext>
              </a:extLst>
            </p:cNvPr>
            <p:cNvSpPr txBox="1"/>
            <p:nvPr/>
          </p:nvSpPr>
          <p:spPr>
            <a:xfrm>
              <a:off x="608964" y="861338"/>
              <a:ext cx="11344624" cy="47016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提出完全基于注意力机制的新架构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Transformer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舍弃循环和卷积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WMT 2014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英德任务上达到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28.4 BLEU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，超过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50000"/>
                </a:lnSpc>
                <a:buSzPct val="25000"/>
              </a:pP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现有最佳结果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 BLEU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以上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在英法任务上达到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41.8 BLEU</a:t>
              </a: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，创下单模型</a:t>
              </a:r>
              <a:r>
                <a:rPr lang="en-US" altLang="zh-CN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SOTA</a:t>
              </a:r>
            </a:p>
            <a:p>
              <a:pPr marL="285750" indent="-285750">
                <a:lnSpc>
                  <a:spcPct val="150000"/>
                </a:lnSpc>
                <a:buSzPct val="25000"/>
                <a:buFont typeface="Wingdings" panose="05000000000000000000" pitchFamily="2" charset="2"/>
                <a:buChar char="l"/>
              </a:pPr>
              <a:r>
                <a:rPr lang="zh-CN" altLang="en-US" b="1" dirty="0">
                  <a:solidFill>
                    <a:srgbClr val="2E6A7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显著提升并行能力，且训练时间显著减少</a:t>
              </a:r>
              <a:endPara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9A130BFB-5846-9693-4B69-95838D66C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B4C45FB-968D-3410-9F5A-C4EC5199CA52}"/>
              </a:ext>
            </a:extLst>
          </p:cNvPr>
          <p:cNvSpPr txBox="1"/>
          <p:nvPr/>
        </p:nvSpPr>
        <p:spPr>
          <a:xfrm>
            <a:off x="669924" y="337065"/>
            <a:ext cx="5426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论文主要贡献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AB16845-5DD0-62E1-2DE3-9B79C48BB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729" y="2624387"/>
            <a:ext cx="5933884" cy="68145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D430BD-35EF-4A2F-3951-BD4E57CA9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729" y="4627285"/>
            <a:ext cx="5933884" cy="43859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6AA9EF1-1206-EEAB-DBB6-CD17C43E7B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729" y="3400322"/>
            <a:ext cx="5933884" cy="1128274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1D1E255-C3DD-2FE4-0D66-F4F6A408BE27}"/>
              </a:ext>
            </a:extLst>
          </p:cNvPr>
          <p:cNvCxnSpPr>
            <a:cxnSpLocks/>
          </p:cNvCxnSpPr>
          <p:nvPr/>
        </p:nvCxnSpPr>
        <p:spPr>
          <a:xfrm>
            <a:off x="3712029" y="3749817"/>
            <a:ext cx="2217700" cy="843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1944ACF-C61A-644A-0A3D-1F755706EA97}"/>
              </a:ext>
            </a:extLst>
          </p:cNvPr>
          <p:cNvCxnSpPr>
            <a:cxnSpLocks/>
          </p:cNvCxnSpPr>
          <p:nvPr/>
        </p:nvCxnSpPr>
        <p:spPr>
          <a:xfrm>
            <a:off x="5257800" y="4627285"/>
            <a:ext cx="619511" cy="2084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8680034-FDCC-0AB8-25BA-27C7088C6D68}"/>
              </a:ext>
            </a:extLst>
          </p:cNvPr>
          <p:cNvCxnSpPr>
            <a:cxnSpLocks/>
          </p:cNvCxnSpPr>
          <p:nvPr/>
        </p:nvCxnSpPr>
        <p:spPr>
          <a:xfrm>
            <a:off x="5851520" y="4173905"/>
            <a:ext cx="7820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9FDB062-53B6-FB55-3B8B-7E6CAF04B8E2}"/>
              </a:ext>
            </a:extLst>
          </p:cNvPr>
          <p:cNvCxnSpPr>
            <a:cxnSpLocks/>
          </p:cNvCxnSpPr>
          <p:nvPr/>
        </p:nvCxnSpPr>
        <p:spPr>
          <a:xfrm>
            <a:off x="2788626" y="2848550"/>
            <a:ext cx="308868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26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2CC0-5CFD-7E3A-E4EA-2634DCCC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943D06F-63E4-F4F2-A59E-4A63B0393938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FAB489D-D999-23BB-B0C2-6F36F3621747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E29C96-9B0C-0D26-D4D0-C50E37E330E7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007AAF0-E3EC-ECFC-AE61-CD62D2226ED0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5" name="iṣľîḋè">
            <a:extLst>
              <a:ext uri="{FF2B5EF4-FFF2-40B4-BE49-F238E27FC236}">
                <a16:creationId xmlns:a16="http://schemas.microsoft.com/office/drawing/2014/main" id="{5C7721E1-68DD-B8E3-7D76-DB707F1D63EE}"/>
              </a:ext>
            </a:extLst>
          </p:cNvPr>
          <p:cNvSpPr txBox="1"/>
          <p:nvPr/>
        </p:nvSpPr>
        <p:spPr>
          <a:xfrm>
            <a:off x="669924" y="629452"/>
            <a:ext cx="11344624" cy="470162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285750" indent="-285750">
              <a:lnSpc>
                <a:spcPct val="150000"/>
              </a:lnSpc>
              <a:buSzPct val="25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 </a:t>
            </a:r>
            <a:r>
              <a:rPr lang="en-US" altLang="zh-CN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NLP / AI </a:t>
            </a:r>
            <a:r>
              <a:rPr lang="zh-CN" altLang="en-US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的影响：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1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BERT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GPT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T5 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等所有大模型的基础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2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、成为 </a:t>
            </a: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LLM 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的标准架构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3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、跨领域：视觉（</a:t>
            </a:r>
            <a:r>
              <a:rPr lang="en-US" altLang="zh-CN" dirty="0" err="1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ViT</a:t>
            </a:r>
            <a:r>
              <a:rPr lang="zh-CN" altLang="en-US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）、多模态、语音</a:t>
            </a:r>
            <a:endParaRPr lang="en-US" altLang="zh-CN" dirty="0">
              <a:solidFill>
                <a:srgbClr val="2E6A7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SzPct val="25000"/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2E6A7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SzPct val="25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2E6A7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论文原文：</a:t>
            </a:r>
            <a:endParaRPr lang="en-US" altLang="zh-CN" b="1" dirty="0">
              <a:solidFill>
                <a:srgbClr val="2E6A7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A1DD43AE-9B2A-EB4F-96EA-178E0EB03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F210136-2224-4B60-267C-C29E0A42C7D9}"/>
              </a:ext>
            </a:extLst>
          </p:cNvPr>
          <p:cNvSpPr txBox="1"/>
          <p:nvPr/>
        </p:nvSpPr>
        <p:spPr>
          <a:xfrm>
            <a:off x="669924" y="337065"/>
            <a:ext cx="5426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影响与后续发展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41B3D2-B085-27DC-3E0C-D314BBB42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54" y="4408616"/>
            <a:ext cx="8807939" cy="67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7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5203-8946-E51D-179D-1233EEAA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11111 秋景航拍 李琳 (7)">
            <a:extLst>
              <a:ext uri="{FF2B5EF4-FFF2-40B4-BE49-F238E27FC236}">
                <a16:creationId xmlns:a16="http://schemas.microsoft.com/office/drawing/2014/main" id="{EC3D897B-D0AB-7A22-44B1-D78A23478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302490" cy="692023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F77B904-2161-982D-02D9-3C1AC616A548}"/>
              </a:ext>
            </a:extLst>
          </p:cNvPr>
          <p:cNvSpPr/>
          <p:nvPr/>
        </p:nvSpPr>
        <p:spPr>
          <a:xfrm>
            <a:off x="0" y="-635"/>
            <a:ext cx="12341225" cy="7009765"/>
          </a:xfrm>
          <a:prstGeom prst="rect">
            <a:avLst/>
          </a:prstGeom>
          <a:solidFill>
            <a:srgbClr val="2E6A7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CD9399E-8529-55AA-0E02-1254365A9BCE}"/>
              </a:ext>
            </a:extLst>
          </p:cNvPr>
          <p:cNvGrpSpPr/>
          <p:nvPr/>
        </p:nvGrpSpPr>
        <p:grpSpPr>
          <a:xfrm>
            <a:off x="2744128" y="657487"/>
            <a:ext cx="6703744" cy="5543025"/>
            <a:chOff x="2744128" y="657487"/>
            <a:chExt cx="6703744" cy="554302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682ADEC3-DC36-0F87-E34D-7FA68EC56D5F}"/>
                </a:ext>
              </a:extLst>
            </p:cNvPr>
            <p:cNvGrpSpPr/>
            <p:nvPr/>
          </p:nvGrpSpPr>
          <p:grpSpPr>
            <a:xfrm>
              <a:off x="2744128" y="657487"/>
              <a:ext cx="6703744" cy="5543025"/>
              <a:chOff x="2744128" y="657487"/>
              <a:chExt cx="6703744" cy="5543025"/>
            </a:xfrm>
          </p:grpSpPr>
          <p:sp>
            <p:nvSpPr>
              <p:cNvPr id="31" name="菱形 30">
                <a:extLst>
                  <a:ext uri="{FF2B5EF4-FFF2-40B4-BE49-F238E27FC236}">
                    <a16:creationId xmlns:a16="http://schemas.microsoft.com/office/drawing/2014/main" id="{F07DC22C-B9D7-3D4A-4073-460F182A2649}"/>
                  </a:ext>
                </a:extLst>
              </p:cNvPr>
              <p:cNvSpPr/>
              <p:nvPr/>
            </p:nvSpPr>
            <p:spPr>
              <a:xfrm>
                <a:off x="2744128" y="657487"/>
                <a:ext cx="6703744" cy="5543025"/>
              </a:xfrm>
              <a:prstGeom prst="diamond">
                <a:avLst/>
              </a:prstGeom>
              <a:solidFill>
                <a:srgbClr val="2E6A70">
                  <a:alpha val="50000"/>
                </a:srgbClr>
              </a:solidFill>
              <a:ln w="15875">
                <a:solidFill>
                  <a:schemeClr val="accent2">
                    <a:lumMod val="20000"/>
                    <a:lumOff val="80000"/>
                    <a:alpha val="51000"/>
                  </a:schemeClr>
                </a:solidFill>
              </a:ln>
              <a:effectLst>
                <a:outerShdw blurRad="304800" dist="38100" dir="2700000" algn="tl" rotWithShape="0">
                  <a:schemeClr val="accent2">
                    <a:lumMod val="20000"/>
                    <a:lumOff val="80000"/>
                    <a:alpha val="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1E80A0CC-B657-1B2B-C982-CEAA5576B51E}"/>
                  </a:ext>
                </a:extLst>
              </p:cNvPr>
              <p:cNvGrpSpPr/>
              <p:nvPr/>
            </p:nvGrpSpPr>
            <p:grpSpPr>
              <a:xfrm>
                <a:off x="3964305" y="2015497"/>
                <a:ext cx="4412615" cy="1877369"/>
                <a:chOff x="4599708" y="1613737"/>
                <a:chExt cx="3097327" cy="1317773"/>
              </a:xfrm>
            </p:grpSpPr>
            <p:sp>
              <p:nvSpPr>
                <p:cNvPr id="33" name="íşlïḋé">
                  <a:extLst>
                    <a:ext uri="{FF2B5EF4-FFF2-40B4-BE49-F238E27FC236}">
                      <a16:creationId xmlns:a16="http://schemas.microsoft.com/office/drawing/2014/main" id="{1C983E94-A630-5B75-CB40-DF39CCFD6E33}"/>
                    </a:ext>
                  </a:extLst>
                </p:cNvPr>
                <p:cNvSpPr txBox="1"/>
                <p:nvPr/>
              </p:nvSpPr>
              <p:spPr>
                <a:xfrm>
                  <a:off x="5304374" y="1613737"/>
                  <a:ext cx="1583653" cy="71850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/>
                <a:lstStyle/>
                <a:p>
                  <a:pPr algn="ctr"/>
                  <a:r>
                    <a:rPr lang="en-US" sz="4400" spc="600" dirty="0">
                      <a:ln/>
                      <a:solidFill>
                        <a:srgbClr val="E3A195"/>
                      </a:solidFill>
                      <a:effectLst>
                        <a:innerShdw blurRad="63500" dist="50800" dir="13500000">
                          <a:srgbClr val="000000">
                            <a:alpha val="50000"/>
                          </a:srgbClr>
                        </a:innerShdw>
                      </a:effectLst>
                      <a:cs typeface="+mn-ea"/>
                      <a:sym typeface="+mn-lt"/>
                    </a:rPr>
                    <a:t>Part</a:t>
                  </a:r>
                  <a:r>
                    <a:rPr lang="en-US" altLang="zh-CN" sz="4400" spc="600" dirty="0">
                      <a:ln/>
                      <a:solidFill>
                        <a:srgbClr val="E3A195"/>
                      </a:solidFill>
                      <a:effectLst>
                        <a:innerShdw blurRad="63500" dist="50800" dir="13500000">
                          <a:srgbClr val="000000">
                            <a:alpha val="50000"/>
                          </a:srgbClr>
                        </a:innerShdw>
                      </a:effectLst>
                      <a:cs typeface="+mn-ea"/>
                      <a:sym typeface="+mn-lt"/>
                    </a:rPr>
                    <a:t>2</a:t>
                  </a:r>
                </a:p>
              </p:txBody>
            </p:sp>
            <p:sp>
              <p:nvSpPr>
                <p:cNvPr id="36" name="îšḻíḓè">
                  <a:extLst>
                    <a:ext uri="{FF2B5EF4-FFF2-40B4-BE49-F238E27FC236}">
                      <a16:creationId xmlns:a16="http://schemas.microsoft.com/office/drawing/2014/main" id="{1635A01E-175D-6E88-ABCF-C6F7D9437F3E}"/>
                    </a:ext>
                  </a:extLst>
                </p:cNvPr>
                <p:cNvSpPr txBox="1"/>
                <p:nvPr/>
              </p:nvSpPr>
              <p:spPr>
                <a:xfrm>
                  <a:off x="4599708" y="2385945"/>
                  <a:ext cx="3097327" cy="5455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noAutofit/>
                  <a:scene3d>
                    <a:camera prst="orthographicFront"/>
                    <a:lightRig rig="threePt" dir="t"/>
                  </a:scene3d>
                </a:bodyPr>
                <a:lstStyle/>
                <a:p>
                  <a:pPr algn="ctr"/>
                  <a:r>
                    <a:rPr lang="zh-CN" altLang="en-US" sz="6600" b="1" spc="1500" dirty="0">
                      <a:ln/>
                      <a:solidFill>
                        <a:schemeClr val="bg2"/>
                      </a:solidFill>
                      <a:effectLst>
                        <a:innerShdw blurRad="63500" dist="50800" dir="13500000">
                          <a:srgbClr val="000000">
                            <a:alpha val="50000"/>
                          </a:srgbClr>
                        </a:innerShdw>
                      </a:effectLst>
                      <a:cs typeface="+mn-ea"/>
                      <a:sym typeface="+mn-lt"/>
                    </a:rPr>
                    <a:t>代码复现</a:t>
                  </a:r>
                </a:p>
              </p:txBody>
            </p:sp>
          </p:grpSp>
        </p:grp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9D7D04E1-FE68-E1EB-94E2-05ED94F2ADD0}"/>
                </a:ext>
              </a:extLst>
            </p:cNvPr>
            <p:cNvSpPr/>
            <p:nvPr/>
          </p:nvSpPr>
          <p:spPr>
            <a:xfrm flipV="1">
              <a:off x="5803900" y="5354599"/>
              <a:ext cx="584200" cy="248367"/>
            </a:xfrm>
            <a:prstGeom prst="triangle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3" name="图片 2" descr="校徽+中英文（透明） 白色">
            <a:extLst>
              <a:ext uri="{FF2B5EF4-FFF2-40B4-BE49-F238E27FC236}">
                <a16:creationId xmlns:a16="http://schemas.microsoft.com/office/drawing/2014/main" id="{D95060AE-4164-F626-D68C-C9B164CAE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735" y="23495"/>
            <a:ext cx="2012950" cy="6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5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16F3-48D6-CFB1-4179-D68FC1DA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0C1651E-4E86-C413-ADBB-F1F0289D1654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8FDB0DD-4AE6-D72D-8555-E9B9115FA72F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FAF1A53-330B-482F-64C8-15A610254067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A2D3E66-E569-5A77-CEE8-E3FEB9969336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C4B89395-EA40-12AE-DAB1-19919305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BA6AB1-86F5-5F9D-E8FC-458620B8314C}"/>
              </a:ext>
            </a:extLst>
          </p:cNvPr>
          <p:cNvSpPr txBox="1"/>
          <p:nvPr/>
        </p:nvSpPr>
        <p:spPr>
          <a:xfrm>
            <a:off x="669924" y="337065"/>
            <a:ext cx="5618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代码项目的整体目录结构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AD2819C-3819-FB28-1DA6-5EAC38DFF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4" y="1309219"/>
            <a:ext cx="5824080" cy="482566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07B5AA-0E87-ACE7-0526-270CADAD85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918"/>
          <a:stretch>
            <a:fillRect/>
          </a:stretch>
        </p:blipFill>
        <p:spPr>
          <a:xfrm>
            <a:off x="6666815" y="2966437"/>
            <a:ext cx="5158790" cy="2829208"/>
          </a:xfrm>
          <a:prstGeom prst="rect">
            <a:avLst/>
          </a:prstGeom>
        </p:spPr>
      </p:pic>
      <p:sp>
        <p:nvSpPr>
          <p:cNvPr id="14" name="îṧlíḍé">
            <a:extLst>
              <a:ext uri="{FF2B5EF4-FFF2-40B4-BE49-F238E27FC236}">
                <a16:creationId xmlns:a16="http://schemas.microsoft.com/office/drawing/2014/main" id="{48BF3E48-EA04-F74A-5476-D07B65834394}"/>
              </a:ext>
            </a:extLst>
          </p:cNvPr>
          <p:cNvSpPr txBox="1"/>
          <p:nvPr/>
        </p:nvSpPr>
        <p:spPr>
          <a:xfrm>
            <a:off x="6666815" y="1645427"/>
            <a:ext cx="3692533" cy="7952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zh-CN" altLang="en-US" b="1" dirty="0">
                <a:solidFill>
                  <a:srgbClr val="2E6A70"/>
                </a:solidFill>
                <a:cs typeface="+mn-ea"/>
                <a:sym typeface="+mn-lt"/>
              </a:rPr>
              <a:t>承接左下内容：</a:t>
            </a:r>
          </a:p>
        </p:txBody>
      </p:sp>
    </p:spTree>
    <p:extLst>
      <p:ext uri="{BB962C8B-B14F-4D97-AF65-F5344CB8AC3E}">
        <p14:creationId xmlns:p14="http://schemas.microsoft.com/office/powerpoint/2010/main" val="332397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8A48-EBF7-D1CF-4EE8-5C3EA91B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9641E6B-5998-5993-0FB7-B540B10635E2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4BB06D-0522-790E-933B-289209514727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D11B637-AEF3-65E8-240F-7F27DB12122D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EAF2BD2-F82E-835D-B895-729D5FB4998D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23FD83EC-73B2-1784-390B-0BD92953D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C7C9CB-C06B-8F33-7DEB-76C3E0A23965}"/>
              </a:ext>
            </a:extLst>
          </p:cNvPr>
          <p:cNvSpPr txBox="1"/>
          <p:nvPr/>
        </p:nvSpPr>
        <p:spPr>
          <a:xfrm>
            <a:off x="669924" y="337065"/>
            <a:ext cx="5618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每个主要 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en-US" altLang="zh-CN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py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文件的作用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C566501-8166-6353-ACBA-5C23567D8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50" y="1407853"/>
            <a:ext cx="10124099" cy="462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05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6279E-5EC7-7B9E-D07E-C054487D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0A8D4E5-2CA6-60C7-87AE-AD737215E986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130C259-F6F5-0D35-F7B5-EB0ABDBA5678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98594A6-AB80-083E-253F-7B9C81708E82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F9726EF-1A2B-BD96-FD78-7D6CDA2A2471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69B3BDBE-D62B-2728-AA41-F5FC58220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CBC17A1-0E06-7105-1F27-F03AA8480B1E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Transformer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模型中每个核心类或函数的功能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3A3DD0-E1F8-37A8-5CBB-30A424BF2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37" y="1212791"/>
            <a:ext cx="10162925" cy="501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12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0293A-768E-A3FA-D0DD-4C91D628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218A94D-0F5C-6F3E-436C-ED4A193CE09D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6B1140E-EFCB-BE46-0AC3-0C3815DE8121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EE3CF04-70DB-8442-BFB4-A9E2D3319390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A87CC4F-397A-45FA-82C1-A9FC8C06C389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4C220166-EA08-8399-028E-B3CC95DD6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720331D-87AD-9E3C-0725-F9C2BE6589C2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输入数据如何被处理</a:t>
            </a:r>
          </a:p>
        </p:txBody>
      </p:sp>
      <p:sp>
        <p:nvSpPr>
          <p:cNvPr id="3" name="îṧlíḍé">
            <a:extLst>
              <a:ext uri="{FF2B5EF4-FFF2-40B4-BE49-F238E27FC236}">
                <a16:creationId xmlns:a16="http://schemas.microsoft.com/office/drawing/2014/main" id="{018FA65A-9E68-84CE-6A9A-E6C4E4A14E64}"/>
              </a:ext>
            </a:extLst>
          </p:cNvPr>
          <p:cNvSpPr txBox="1"/>
          <p:nvPr/>
        </p:nvSpPr>
        <p:spPr>
          <a:xfrm>
            <a:off x="1287670" y="1230778"/>
            <a:ext cx="5178444" cy="49825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 fontScale="92500" lnSpcReduction="20000"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原始文本 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(.de / .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en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)</a:t>
            </a:r>
          </a:p>
          <a:p>
            <a:pPr>
              <a:lnSpc>
                <a:spcPct val="21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    ↓ 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whitespace_tokenizer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分词</a:t>
            </a:r>
          </a:p>
          <a:p>
            <a:pPr>
              <a:lnSpc>
                <a:spcPct val="21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token 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列表</a:t>
            </a:r>
          </a:p>
          <a:p>
            <a:pPr>
              <a:lnSpc>
                <a:spcPct val="210000"/>
              </a:lnSpc>
              <a:buSzPct val="25000"/>
            </a:pP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    ↓ 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Vocab.encode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（未知词 → 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UNK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）</a:t>
            </a:r>
          </a:p>
          <a:p>
            <a:pPr>
              <a:lnSpc>
                <a:spcPct val="21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token id 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列表</a:t>
            </a:r>
          </a:p>
          <a:p>
            <a:pPr>
              <a:lnSpc>
                <a:spcPct val="210000"/>
              </a:lnSpc>
              <a:buSzPct val="25000"/>
            </a:pP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    ↓ 加 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BOS / EOS</a:t>
            </a:r>
          </a:p>
          <a:p>
            <a:pPr>
              <a:lnSpc>
                <a:spcPct val="210000"/>
              </a:lnSpc>
              <a:buSzPct val="25000"/>
            </a:pP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    ↓ pad_2d 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对齐 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batch 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长度</a:t>
            </a:r>
          </a:p>
          <a:p>
            <a:pPr>
              <a:lnSpc>
                <a:spcPct val="210000"/>
              </a:lnSpc>
              <a:buSzPct val="25000"/>
            </a:pP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    ↓ 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tgt_in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 / 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tgt_out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错位（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Teacher Forcing</a:t>
            </a: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）</a:t>
            </a:r>
          </a:p>
          <a:p>
            <a:pPr>
              <a:lnSpc>
                <a:spcPct val="210000"/>
              </a:lnSpc>
              <a:buSzPct val="25000"/>
            </a:pP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    ↓ 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make_src_mask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 / </a:t>
            </a:r>
            <a:r>
              <a:rPr lang="en-US" altLang="zh-CN" dirty="0" err="1">
                <a:solidFill>
                  <a:srgbClr val="2E6A70"/>
                </a:solidFill>
                <a:cs typeface="+mn-ea"/>
                <a:sym typeface="+mn-lt"/>
              </a:rPr>
              <a:t>make_tgt_mask</a:t>
            </a:r>
            <a:endParaRPr lang="en-US" altLang="zh-CN" dirty="0">
              <a:solidFill>
                <a:srgbClr val="2E6A70"/>
              </a:solidFill>
              <a:cs typeface="+mn-ea"/>
              <a:sym typeface="+mn-lt"/>
            </a:endParaRPr>
          </a:p>
          <a:p>
            <a:pPr>
              <a:lnSpc>
                <a:spcPct val="210000"/>
              </a:lnSpc>
              <a:buSzPct val="25000"/>
            </a:pPr>
            <a:r>
              <a:rPr lang="zh-CN" altLang="en-US" dirty="0">
                <a:solidFill>
                  <a:srgbClr val="2E6A70"/>
                </a:solidFill>
                <a:cs typeface="+mn-ea"/>
                <a:sym typeface="+mn-lt"/>
              </a:rPr>
              <a:t>送入 </a:t>
            </a:r>
            <a:r>
              <a:rPr lang="en-US" altLang="zh-CN" dirty="0">
                <a:solidFill>
                  <a:srgbClr val="2E6A70"/>
                </a:solidFill>
                <a:cs typeface="+mn-ea"/>
                <a:sym typeface="+mn-lt"/>
              </a:rPr>
              <a:t>Transformer</a:t>
            </a:r>
            <a:endParaRPr lang="zh-CN" altLang="en-US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sp>
        <p:nvSpPr>
          <p:cNvPr id="10" name="îṧlíḍé">
            <a:extLst>
              <a:ext uri="{FF2B5EF4-FFF2-40B4-BE49-F238E27FC236}">
                <a16:creationId xmlns:a16="http://schemas.microsoft.com/office/drawing/2014/main" id="{7B9593E1-5722-2303-4E50-85B89C5946FA}"/>
              </a:ext>
            </a:extLst>
          </p:cNvPr>
          <p:cNvSpPr txBox="1"/>
          <p:nvPr/>
        </p:nvSpPr>
        <p:spPr>
          <a:xfrm>
            <a:off x="6164262" y="1090263"/>
            <a:ext cx="3692533" cy="7952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zh-CN" altLang="en-US" b="1" dirty="0">
                <a:solidFill>
                  <a:srgbClr val="2E6A70"/>
                </a:solidFill>
                <a:cs typeface="+mn-ea"/>
                <a:sym typeface="+mn-lt"/>
              </a:rPr>
              <a:t>特殊符号：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DD47065-2D06-6FF0-A46F-012813EC7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950" y="2152843"/>
            <a:ext cx="4992134" cy="323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23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EE04-3FB7-3DF9-EAB4-26A33430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3479B5D-447B-A8BB-EA84-6EE965A9CFCB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E26742A-2F42-E0E7-D3D9-F77CAD1E885D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66D3AD9-88BE-E78F-1E2D-01D620DC477F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84E8587-0564-A002-BE1E-F24EA8000CA0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F1307BC3-CAD6-E55F-6745-9E9BF5891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C699BB-4837-932C-E211-5ADC7994E192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模型输入和输出的张量维度</a:t>
            </a:r>
          </a:p>
        </p:txBody>
      </p:sp>
      <p:sp>
        <p:nvSpPr>
          <p:cNvPr id="3" name="îṧlíḍé">
            <a:extLst>
              <a:ext uri="{FF2B5EF4-FFF2-40B4-BE49-F238E27FC236}">
                <a16:creationId xmlns:a16="http://schemas.microsoft.com/office/drawing/2014/main" id="{019FE2A9-CBAC-7D1A-D566-E192F0AC083B}"/>
              </a:ext>
            </a:extLst>
          </p:cNvPr>
          <p:cNvSpPr txBox="1"/>
          <p:nvPr/>
        </p:nvSpPr>
        <p:spPr>
          <a:xfrm>
            <a:off x="985818" y="1180111"/>
            <a:ext cx="5178444" cy="5327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b="1" dirty="0">
                <a:solidFill>
                  <a:srgbClr val="2E6A70"/>
                </a:solidFill>
                <a:cs typeface="+mn-ea"/>
                <a:sym typeface="+mn-lt"/>
              </a:rPr>
              <a:t>符号约定：</a:t>
            </a:r>
            <a:endParaRPr lang="en-US" altLang="zh-CN" b="1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sp>
        <p:nvSpPr>
          <p:cNvPr id="10" name="îṧlíḍé">
            <a:extLst>
              <a:ext uri="{FF2B5EF4-FFF2-40B4-BE49-F238E27FC236}">
                <a16:creationId xmlns:a16="http://schemas.microsoft.com/office/drawing/2014/main" id="{8FA2D0EA-0A97-3A25-9811-F7E7F908A311}"/>
              </a:ext>
            </a:extLst>
          </p:cNvPr>
          <p:cNvSpPr txBox="1"/>
          <p:nvPr/>
        </p:nvSpPr>
        <p:spPr>
          <a:xfrm>
            <a:off x="6164262" y="921840"/>
            <a:ext cx="3692533" cy="7952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zh-CN" altLang="en-US" b="1" dirty="0">
                <a:solidFill>
                  <a:srgbClr val="2E6A70"/>
                </a:solidFill>
                <a:cs typeface="+mn-ea"/>
                <a:sym typeface="+mn-lt"/>
              </a:rPr>
              <a:t>各阶段张量形状：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04B9B4F-A5E3-967B-4DEB-AF19B0B98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85" y="2038086"/>
            <a:ext cx="4752975" cy="38195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2EAFDD6-6488-16F3-717C-F386C4A64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15603"/>
            <a:ext cx="4662197" cy="422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01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8ABD-C2AE-740B-5918-731FD11D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867E462-398A-C410-5327-FCCE547918E0}"/>
              </a:ext>
            </a:extLst>
          </p:cNvPr>
          <p:cNvSpPr/>
          <p:nvPr/>
        </p:nvSpPr>
        <p:spPr>
          <a:xfrm>
            <a:off x="366394" y="1034363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C625521-1B0A-4728-CA5C-147797D32B90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A5742B3-FBBF-AEB8-F4D1-CD88F81B39AF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B504016-2465-A2FD-62B9-953DD731AA7A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61969740-3855-B5DF-F232-1B7A88FEA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E218339-1648-670C-190B-1C97DBF91BCC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Attention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模块中 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Q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的含义和维度变化</a:t>
            </a:r>
          </a:p>
        </p:txBody>
      </p:sp>
      <p:sp>
        <p:nvSpPr>
          <p:cNvPr id="3" name="îṧlíḍé">
            <a:extLst>
              <a:ext uri="{FF2B5EF4-FFF2-40B4-BE49-F238E27FC236}">
                <a16:creationId xmlns:a16="http://schemas.microsoft.com/office/drawing/2014/main" id="{53D488C9-3DBA-76FA-7F67-E8AEC3FD6A83}"/>
              </a:ext>
            </a:extLst>
          </p:cNvPr>
          <p:cNvSpPr txBox="1"/>
          <p:nvPr/>
        </p:nvSpPr>
        <p:spPr>
          <a:xfrm>
            <a:off x="985818" y="1180111"/>
            <a:ext cx="5178444" cy="5327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 fontScale="92500" lnSpcReduction="10000"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b="1" dirty="0">
                <a:solidFill>
                  <a:srgbClr val="2E6A70"/>
                </a:solidFill>
                <a:cs typeface="+mn-ea"/>
                <a:sym typeface="+mn-lt"/>
              </a:rPr>
              <a:t>含义：</a:t>
            </a:r>
            <a:endParaRPr lang="en-US" altLang="zh-CN" b="1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sp>
        <p:nvSpPr>
          <p:cNvPr id="10" name="îṧlíḍé">
            <a:extLst>
              <a:ext uri="{FF2B5EF4-FFF2-40B4-BE49-F238E27FC236}">
                <a16:creationId xmlns:a16="http://schemas.microsoft.com/office/drawing/2014/main" id="{B2216D1C-B2DA-5AAC-71D6-2BF9547BF090}"/>
              </a:ext>
            </a:extLst>
          </p:cNvPr>
          <p:cNvSpPr txBox="1"/>
          <p:nvPr/>
        </p:nvSpPr>
        <p:spPr>
          <a:xfrm>
            <a:off x="1058537" y="4182046"/>
            <a:ext cx="8869233" cy="19668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两种注意力模式：</a:t>
            </a:r>
          </a:p>
          <a:p>
            <a:pPr>
              <a:lnSpc>
                <a:spcPct val="150000"/>
              </a:lnSpc>
              <a:buSzPct val="25000"/>
            </a:pPr>
            <a:endParaRPr lang="zh-CN" altLang="en-US" sz="1600" dirty="0">
              <a:solidFill>
                <a:srgbClr val="2E6A7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-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自注意力（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Self-Attention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）：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Q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K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V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来自同一序列（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Encoder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自注意力、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Decoder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第一层）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-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交叉注意力（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Cross-Attention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）：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Q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来自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Decoder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，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K/V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来自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Encoder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的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memory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Decoder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第二层）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8A13B5D-5741-B7B6-795A-D99C83C7F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38" y="2132759"/>
            <a:ext cx="67532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51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0187-5563-137B-AAC5-C96FDD33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F59DA5-35E9-099E-B2BF-B7D668DD6E1C}"/>
              </a:ext>
            </a:extLst>
          </p:cNvPr>
          <p:cNvSpPr/>
          <p:nvPr/>
        </p:nvSpPr>
        <p:spPr>
          <a:xfrm>
            <a:off x="366394" y="1034363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265D529-90E1-4CD6-B4C9-F371CEB27226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53F5C4E-579B-703A-D0FE-13A9BABE36A1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198721-F5B9-A4A7-A7DD-0C3BFF17EF5C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8707F0B3-61AC-095F-4BCA-BC5ABE3C9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E2FB8A7-3CB8-82A7-A340-D50AF791A8ED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Attention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模块中 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Q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的含义和维度变化</a:t>
            </a:r>
          </a:p>
        </p:txBody>
      </p:sp>
      <p:sp>
        <p:nvSpPr>
          <p:cNvPr id="3" name="îṧlíḍé">
            <a:extLst>
              <a:ext uri="{FF2B5EF4-FFF2-40B4-BE49-F238E27FC236}">
                <a16:creationId xmlns:a16="http://schemas.microsoft.com/office/drawing/2014/main" id="{28FD1E64-093F-871D-7AFA-F85CB33C4B35}"/>
              </a:ext>
            </a:extLst>
          </p:cNvPr>
          <p:cNvSpPr txBox="1"/>
          <p:nvPr/>
        </p:nvSpPr>
        <p:spPr>
          <a:xfrm>
            <a:off x="985817" y="1051963"/>
            <a:ext cx="5178444" cy="74870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b="1" dirty="0">
                <a:solidFill>
                  <a:srgbClr val="2E6A70"/>
                </a:solidFill>
                <a:cs typeface="+mn-ea"/>
                <a:sym typeface="+mn-lt"/>
              </a:rPr>
              <a:t>维度变化：</a:t>
            </a:r>
            <a:endParaRPr lang="en-US" altLang="zh-CN" b="1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5F27B13-E029-DDE6-EA94-A2A13BDAB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450" y="1928812"/>
            <a:ext cx="8099749" cy="358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53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C449-BCB5-9336-B4B4-CC4D8286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2984BE9-AAA1-D56D-D61C-ABF843E1948D}"/>
              </a:ext>
            </a:extLst>
          </p:cNvPr>
          <p:cNvSpPr/>
          <p:nvPr/>
        </p:nvSpPr>
        <p:spPr>
          <a:xfrm>
            <a:off x="366394" y="1034363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2077C31-09D1-FE70-E48C-5FF2D2E66AB7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EA8A3F5-4539-F575-0B6C-727E3E99DEB3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9638609-B8CE-7750-94C0-AED6979FCEFD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13DCC943-5412-898B-9A95-E0FCE8A95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902052E-8665-ABE1-558E-3653BCD89B44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Multi-Head Attention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如何实现</a:t>
            </a:r>
          </a:p>
        </p:txBody>
      </p:sp>
      <p:sp>
        <p:nvSpPr>
          <p:cNvPr id="3" name="îṧlíḍé">
            <a:extLst>
              <a:ext uri="{FF2B5EF4-FFF2-40B4-BE49-F238E27FC236}">
                <a16:creationId xmlns:a16="http://schemas.microsoft.com/office/drawing/2014/main" id="{F4B8B312-6A52-B85F-B721-C4BC67968F37}"/>
              </a:ext>
            </a:extLst>
          </p:cNvPr>
          <p:cNvSpPr txBox="1"/>
          <p:nvPr/>
        </p:nvSpPr>
        <p:spPr>
          <a:xfrm>
            <a:off x="739574" y="978101"/>
            <a:ext cx="9725725" cy="14137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核心思想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：将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d_model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切成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H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个头，每个头在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d_k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维子空间内独立做注意力，再拼接，使模型能同时关注不同语义子空间（语法、语义、位置关系等）。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sp>
        <p:nvSpPr>
          <p:cNvPr id="10" name="îṧlíḍé">
            <a:extLst>
              <a:ext uri="{FF2B5EF4-FFF2-40B4-BE49-F238E27FC236}">
                <a16:creationId xmlns:a16="http://schemas.microsoft.com/office/drawing/2014/main" id="{DBAF9286-8EDE-8BD6-4F4D-8A678023C1C6}"/>
              </a:ext>
            </a:extLst>
          </p:cNvPr>
          <p:cNvSpPr txBox="1"/>
          <p:nvPr/>
        </p:nvSpPr>
        <p:spPr>
          <a:xfrm>
            <a:off x="739574" y="2391900"/>
            <a:ext cx="4659202" cy="325284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 fontScale="92500"/>
          </a:bodyPr>
          <a:lstStyle/>
          <a:p>
            <a:pPr>
              <a:lnSpc>
                <a:spcPct val="20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实现步骤：</a:t>
            </a:r>
          </a:p>
          <a:p>
            <a:pPr>
              <a:lnSpc>
                <a:spcPct val="20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1. 4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个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nn.Linear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(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d_model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,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d_model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)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：分别投影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Q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K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V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与输出</a:t>
            </a:r>
          </a:p>
          <a:p>
            <a:pPr>
              <a:lnSpc>
                <a:spcPct val="20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2. view + transpose → (B, H, L,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d_k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)</a:t>
            </a:r>
          </a:p>
          <a:p>
            <a:pPr>
              <a:lnSpc>
                <a:spcPct val="20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3.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对每个头调用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scaled_dot_product_attention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4. transpose + view → (B, L,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d_model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)</a:t>
            </a:r>
          </a:p>
          <a:p>
            <a:pPr>
              <a:lnSpc>
                <a:spcPct val="200000"/>
              </a:lnSpc>
              <a:buSzPct val="25000"/>
            </a:pP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5.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最后一个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Linear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混合多头信息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217DB98-CE3D-F16A-22EC-6AA38770A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776" y="2817128"/>
            <a:ext cx="6126497" cy="282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2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ECD3-482F-78EA-0FC8-8ED6ACBD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B6A48F4-115B-A6DD-88B3-C295073EFEEE}"/>
              </a:ext>
            </a:extLst>
          </p:cNvPr>
          <p:cNvSpPr/>
          <p:nvPr/>
        </p:nvSpPr>
        <p:spPr>
          <a:xfrm>
            <a:off x="366394" y="1034363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7D15DC-9654-BB35-D140-001140A09315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AEC4CA-463A-D306-632D-BDFD476CBC71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893BD90-370F-4802-9DB5-C14BDF684EA6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2D68EE4E-751D-1528-84BE-BFB665B1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ABD692-2E8B-DD07-3B9B-58CE8B4BAE7C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Encoder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 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Decoder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如何堆叠</a:t>
            </a:r>
          </a:p>
        </p:txBody>
      </p:sp>
      <p:sp>
        <p:nvSpPr>
          <p:cNvPr id="3" name="îṧlíḍé">
            <a:extLst>
              <a:ext uri="{FF2B5EF4-FFF2-40B4-BE49-F238E27FC236}">
                <a16:creationId xmlns:a16="http://schemas.microsoft.com/office/drawing/2014/main" id="{160D214B-3DD4-B609-926C-7D11F856B2FF}"/>
              </a:ext>
            </a:extLst>
          </p:cNvPr>
          <p:cNvSpPr txBox="1"/>
          <p:nvPr/>
        </p:nvSpPr>
        <p:spPr>
          <a:xfrm>
            <a:off x="739574" y="1051963"/>
            <a:ext cx="1956973" cy="6611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整体数据流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D02026E-8EA2-6865-F9A2-CFE3B50AC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32" y="1713132"/>
            <a:ext cx="6317020" cy="1255448"/>
          </a:xfrm>
          <a:prstGeom prst="rect">
            <a:avLst/>
          </a:prstGeom>
        </p:spPr>
      </p:pic>
      <p:sp>
        <p:nvSpPr>
          <p:cNvPr id="13" name="îṧlíḍé">
            <a:extLst>
              <a:ext uri="{FF2B5EF4-FFF2-40B4-BE49-F238E27FC236}">
                <a16:creationId xmlns:a16="http://schemas.microsoft.com/office/drawing/2014/main" id="{F3A3E5C3-6771-5AE3-A770-0FE5B345BB05}"/>
              </a:ext>
            </a:extLst>
          </p:cNvPr>
          <p:cNvSpPr txBox="1"/>
          <p:nvPr/>
        </p:nvSpPr>
        <p:spPr>
          <a:xfrm>
            <a:off x="669924" y="2807047"/>
            <a:ext cx="1956973" cy="6611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 fontScale="92500"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EncoderLayer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结构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389B559-3650-DC11-3395-8F7A77B87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132" y="3574985"/>
            <a:ext cx="6317020" cy="1041063"/>
          </a:xfrm>
          <a:prstGeom prst="rect">
            <a:avLst/>
          </a:prstGeom>
        </p:spPr>
      </p:pic>
      <p:sp>
        <p:nvSpPr>
          <p:cNvPr id="19" name="îṧlíḍé">
            <a:extLst>
              <a:ext uri="{FF2B5EF4-FFF2-40B4-BE49-F238E27FC236}">
                <a16:creationId xmlns:a16="http://schemas.microsoft.com/office/drawing/2014/main" id="{C2171FA7-E373-DD2F-1E2F-0935C741AADD}"/>
              </a:ext>
            </a:extLst>
          </p:cNvPr>
          <p:cNvSpPr txBox="1"/>
          <p:nvPr/>
        </p:nvSpPr>
        <p:spPr>
          <a:xfrm>
            <a:off x="669924" y="4392232"/>
            <a:ext cx="3407554" cy="6611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DecoderLayer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结构（三层子层）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5A90872-887D-800B-5EC1-EF3552D97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133" y="5144868"/>
            <a:ext cx="6317019" cy="11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21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2479-73A2-C0F4-7BA3-79F73CE0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0C67519-97A0-F84F-FFF6-2BAE052F79B9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50AE01F-FA6F-1E7E-B90B-D6625D5C584C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C1B6EB8-0008-3D5F-E023-DBDD74BBAC9E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C7CF6F9-F9DE-AE59-5068-9C337BBF22F9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89343EA3-B649-C4B9-1CE7-2BEFC3E26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9BD25B2-30BD-FE1C-F643-271578495322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Mask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的作用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4353282-37BA-DB4B-A2F6-0D11F485F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486" y="1226635"/>
            <a:ext cx="8432444" cy="4216222"/>
          </a:xfrm>
          <a:prstGeom prst="rect">
            <a:avLst/>
          </a:prstGeom>
        </p:spPr>
      </p:pic>
      <p:sp>
        <p:nvSpPr>
          <p:cNvPr id="12" name="îṧlíḍé">
            <a:extLst>
              <a:ext uri="{FF2B5EF4-FFF2-40B4-BE49-F238E27FC236}">
                <a16:creationId xmlns:a16="http://schemas.microsoft.com/office/drawing/2014/main" id="{B498C08F-0B26-086F-6160-2909FFB84FC2}"/>
              </a:ext>
            </a:extLst>
          </p:cNvPr>
          <p:cNvSpPr txBox="1"/>
          <p:nvPr/>
        </p:nvSpPr>
        <p:spPr>
          <a:xfrm>
            <a:off x="1122129" y="4520560"/>
            <a:ext cx="9725725" cy="14137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实现原理：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掩码为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False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（或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）的位置，在 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softmax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前将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attention score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设为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-inf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，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  <a:sym typeface="+mn-lt"/>
              </a:rPr>
              <a:t>softmax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后权重为 </a:t>
            </a:r>
            <a:r>
              <a:rPr lang="en-US" altLang="zh-CN" sz="1600" dirty="0">
                <a:solidFill>
                  <a:srgbClr val="2E6A70"/>
                </a:solidFill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2E6A70"/>
                </a:solidFill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775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94EB-8972-44AE-EA26-7245BD99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D2D4E57-9179-AB2B-FD2E-BB782F972B68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35F002C-E204-F35F-4707-10BDDAD1E97D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AB457CD-8CED-090B-0378-97889CDFD56F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BA9C7D1-EB3F-26A1-646F-334BB194FC11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7B9A4807-4CE3-DA41-B5F5-268549B64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0F22844-A56B-1C9F-5CA1-B77890FE684F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Loss function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 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optimizer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的设置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019E5A8-7A9D-9A98-E0DD-5BDFB58A3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576" y="1279194"/>
            <a:ext cx="9160717" cy="488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66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F4AF6-1DBE-9659-BC37-EDA1A545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960E414-70CF-6B22-1244-245B812BF475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5F0B2EE-D079-C0D5-0BBF-CCD1E8A937D9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CF795B-8A06-BBE0-2D46-77A1CD9C0DD7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F4D3FA-7AA4-90DE-F2C8-D844F6BA5F25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0004F0D4-671F-EF27-44EA-EF9104708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227AAC7-498D-961C-E91C-66A8B255278E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训练过程如何执行</a:t>
            </a:r>
          </a:p>
        </p:txBody>
      </p:sp>
      <p:sp>
        <p:nvSpPr>
          <p:cNvPr id="12" name="îṧlíḍé">
            <a:extLst>
              <a:ext uri="{FF2B5EF4-FFF2-40B4-BE49-F238E27FC236}">
                <a16:creationId xmlns:a16="http://schemas.microsoft.com/office/drawing/2014/main" id="{47EE19A9-AF0C-C8B9-C769-8834B6942F7D}"/>
              </a:ext>
            </a:extLst>
          </p:cNvPr>
          <p:cNvSpPr txBox="1"/>
          <p:nvPr/>
        </p:nvSpPr>
        <p:spPr>
          <a:xfrm>
            <a:off x="991501" y="1455576"/>
            <a:ext cx="4970759" cy="460932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 fontScale="92500"/>
          </a:bodyPr>
          <a:lstStyle/>
          <a:p>
            <a:pPr>
              <a:lnSpc>
                <a:spcPct val="12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读取 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configs/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default.yaml</a:t>
            </a:r>
            <a:endParaRPr lang="en-US" altLang="zh-CN" sz="1600" b="1" dirty="0">
              <a:solidFill>
                <a:srgbClr val="2E6A7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   ↓</a:t>
            </a:r>
          </a:p>
          <a:p>
            <a:pPr>
              <a:lnSpc>
                <a:spcPct val="12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构建词表（源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/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目标各一个）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+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DataLoader</a:t>
            </a:r>
            <a:endParaRPr lang="en-US" altLang="zh-CN" sz="1600" b="1" dirty="0">
              <a:solidFill>
                <a:srgbClr val="2E6A7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   ↓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build_model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() +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打印参数量</a:t>
            </a:r>
          </a:p>
          <a:p>
            <a:pPr>
              <a:lnSpc>
                <a:spcPct val="12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    ↓</a:t>
            </a:r>
          </a:p>
          <a:p>
            <a:pPr>
              <a:lnSpc>
                <a:spcPct val="12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┌─ 每个 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epoch ─────────────────────────────────┐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│ 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遍历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train_loader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                                                   │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│    → forward +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NLLLoss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+ backward                     │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│    →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clip_grad_norm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_ +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optimizer.step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()              │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│ 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遍历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val_loader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→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计算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val_loss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                          │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│ 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若 </a:t>
            </a:r>
            <a:r>
              <a:rPr lang="en-US" altLang="zh-CN" sz="1600" b="1" dirty="0" err="1">
                <a:solidFill>
                  <a:srgbClr val="2E6A70"/>
                </a:solidFill>
                <a:cs typeface="+mn-ea"/>
                <a:sym typeface="+mn-lt"/>
              </a:rPr>
              <a:t>val_loss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更优 → 保存 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best_translation.pt        │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│ 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写入 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train_log.csv                                                   │</a:t>
            </a:r>
          </a:p>
          <a:p>
            <a:pPr>
              <a:lnSpc>
                <a:spcPct val="120000"/>
              </a:lnSpc>
              <a:buSzPct val="25000"/>
            </a:pPr>
            <a:r>
              <a:rPr lang="en-US" altLang="zh-CN" sz="1600" b="1" dirty="0">
                <a:solidFill>
                  <a:srgbClr val="2E6A70"/>
                </a:solidFill>
                <a:cs typeface="+mn-ea"/>
                <a:sym typeface="+mn-lt"/>
              </a:rPr>
              <a:t>└────────────────────────────────┘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330E51-FB4C-A572-50EC-3EF4D550D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486" y="2851351"/>
            <a:ext cx="5784976" cy="2944294"/>
          </a:xfrm>
          <a:prstGeom prst="rect">
            <a:avLst/>
          </a:prstGeom>
        </p:spPr>
      </p:pic>
      <p:sp>
        <p:nvSpPr>
          <p:cNvPr id="10" name="îṧlíḍé">
            <a:extLst>
              <a:ext uri="{FF2B5EF4-FFF2-40B4-BE49-F238E27FC236}">
                <a16:creationId xmlns:a16="http://schemas.microsoft.com/office/drawing/2014/main" id="{94909EFF-4F1C-A7EF-5B13-048670C2F820}"/>
              </a:ext>
            </a:extLst>
          </p:cNvPr>
          <p:cNvSpPr txBox="1"/>
          <p:nvPr/>
        </p:nvSpPr>
        <p:spPr>
          <a:xfrm>
            <a:off x="5677519" y="2049667"/>
            <a:ext cx="1956973" cy="6611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  <a:sym typeface="+mn-lt"/>
              </a:rPr>
              <a:t>运行命令：</a:t>
            </a:r>
            <a:endParaRPr lang="en-US" altLang="zh-CN" sz="1600" dirty="0">
              <a:solidFill>
                <a:srgbClr val="2E6A7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0798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B3AFA-99B6-E000-0BA5-37659550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EF90437-6B85-17FF-2A20-0BBAF7A4EBC6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658A07E-0421-920C-1F89-0C3D93B3DD50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96FD998-DF1D-027A-6F29-D3B7E76E3596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8B131D-0468-C70C-469B-09033119B395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AE605688-F1B3-5D3C-55AE-65C0AC25B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562758C-02A5-8822-20F1-2CCCF526F577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训练结果如何保存和分析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0971639-89A2-2DE7-65D2-3F40C68C0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420" y="1798767"/>
            <a:ext cx="9015159" cy="429545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7AE9ACF-E087-9DA0-31B8-F649EE3C4C2D}"/>
              </a:ext>
            </a:extLst>
          </p:cNvPr>
          <p:cNvSpPr txBox="1"/>
          <p:nvPr/>
        </p:nvSpPr>
        <p:spPr>
          <a:xfrm>
            <a:off x="1080019" y="1133898"/>
            <a:ext cx="6097554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保存内容一览</a:t>
            </a:r>
          </a:p>
        </p:txBody>
      </p:sp>
    </p:spTree>
    <p:extLst>
      <p:ext uri="{BB962C8B-B14F-4D97-AF65-F5344CB8AC3E}">
        <p14:creationId xmlns:p14="http://schemas.microsoft.com/office/powerpoint/2010/main" val="3250254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30C8-0958-9C4F-7396-41B12B1C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5B9E3AD-E03C-0C72-EDEA-3DAE6BED8194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9E83125-0292-94A3-1C51-179A7BAFDC48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5A9817A-E9D1-15D2-8202-E07AA80D6F5A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6117CC1-B4EA-C82E-AE3F-1370D1DE7692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1F9520BA-B4A0-AB0F-0FF3-6A6BB7A4C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ADDE8F1-40C1-1B11-010F-16974C93DDDF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训练结果如何保存和分析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3B1C34-A9B0-6A34-0482-7EBBCA586234}"/>
              </a:ext>
            </a:extLst>
          </p:cNvPr>
          <p:cNvSpPr txBox="1"/>
          <p:nvPr/>
        </p:nvSpPr>
        <p:spPr>
          <a:xfrm>
            <a:off x="800101" y="1228626"/>
            <a:ext cx="6097554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训练曲线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F858A1-53D8-CDD2-5788-A99E38825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1" y="2028618"/>
            <a:ext cx="5154587" cy="25772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2B7AB59-193D-74E3-2216-ED2BDAB31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314" y="2305077"/>
            <a:ext cx="5487398" cy="17369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2D881A0-33F7-0352-0FF6-02B9FB7D9D20}"/>
              </a:ext>
            </a:extLst>
          </p:cNvPr>
          <p:cNvSpPr txBox="1"/>
          <p:nvPr/>
        </p:nvSpPr>
        <p:spPr>
          <a:xfrm>
            <a:off x="1182655" y="4877362"/>
            <a:ext cx="9220977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观察：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</a:rPr>
              <a:t>train_loss</a:t>
            </a:r>
            <a:r>
              <a:rPr lang="en-US" altLang="zh-CN" sz="1600" dirty="0">
                <a:solidFill>
                  <a:srgbClr val="2E6A70"/>
                </a:solidFill>
                <a:cs typeface="+mn-ea"/>
              </a:rPr>
              <a:t> </a:t>
            </a:r>
            <a:r>
              <a:rPr lang="zh-CN" altLang="en-US" sz="1600" dirty="0">
                <a:solidFill>
                  <a:srgbClr val="2E6A70"/>
                </a:solidFill>
                <a:cs typeface="+mn-ea"/>
              </a:rPr>
              <a:t>持续下降；</a:t>
            </a:r>
            <a:r>
              <a:rPr lang="en-US" altLang="zh-CN" sz="1600" dirty="0" err="1">
                <a:solidFill>
                  <a:srgbClr val="2E6A70"/>
                </a:solidFill>
                <a:cs typeface="+mn-ea"/>
              </a:rPr>
              <a:t>val_loss</a:t>
            </a:r>
            <a:r>
              <a:rPr lang="en-US" altLang="zh-CN" sz="1600" dirty="0">
                <a:solidFill>
                  <a:srgbClr val="2E6A70"/>
                </a:solidFill>
                <a:cs typeface="+mn-ea"/>
              </a:rPr>
              <a:t> </a:t>
            </a:r>
            <a:r>
              <a:rPr lang="zh-CN" altLang="en-US" sz="1600" dirty="0">
                <a:solidFill>
                  <a:srgbClr val="2E6A70"/>
                </a:solidFill>
                <a:cs typeface="+mn-ea"/>
              </a:rPr>
              <a:t>在第 </a:t>
            </a:r>
            <a:r>
              <a:rPr lang="en-US" altLang="zh-CN" sz="1600" dirty="0">
                <a:solidFill>
                  <a:srgbClr val="2E6A70"/>
                </a:solidFill>
                <a:cs typeface="+mn-ea"/>
              </a:rPr>
              <a:t>8 epoch </a:t>
            </a:r>
            <a:r>
              <a:rPr lang="zh-CN" altLang="en-US" sz="1600" dirty="0">
                <a:solidFill>
                  <a:srgbClr val="2E6A70"/>
                </a:solidFill>
                <a:cs typeface="+mn-ea"/>
              </a:rPr>
              <a:t>后趋于平稳（</a:t>
            </a:r>
            <a:r>
              <a:rPr lang="en-US" altLang="zh-CN" sz="1600" dirty="0">
                <a:solidFill>
                  <a:srgbClr val="2E6A70"/>
                </a:solidFill>
                <a:cs typeface="+mn-ea"/>
              </a:rPr>
              <a:t>2.03</a:t>
            </a:r>
            <a:r>
              <a:rPr lang="zh-CN" altLang="en-US" sz="1600" dirty="0">
                <a:solidFill>
                  <a:srgbClr val="2E6A70"/>
                </a:solidFill>
                <a:cs typeface="+mn-ea"/>
              </a:rPr>
              <a:t>），存在轻微过拟合趋势。</a:t>
            </a:r>
          </a:p>
        </p:txBody>
      </p:sp>
    </p:spTree>
    <p:extLst>
      <p:ext uri="{BB962C8B-B14F-4D97-AF65-F5344CB8AC3E}">
        <p14:creationId xmlns:p14="http://schemas.microsoft.com/office/powerpoint/2010/main" val="2075151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B7D5-0484-7B36-B78B-643EFD38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D64A305-66DF-349A-F3D3-5E4A33553114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12D193-0EAF-CDF4-F4C5-4F4D591A620A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B29400-7B7C-52F1-4555-B4F1ADC75422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6203B45-A9E1-6EF7-ABF0-412B680D0A96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751C3E6E-E7B8-A8E2-09ED-3DFE4869D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A67BA04-6BE0-AB37-4668-FDEBEE6D0E37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训练结果如何保存和分析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42DCE7-B826-88B4-6E31-6DE10CB1AD35}"/>
              </a:ext>
            </a:extLst>
          </p:cNvPr>
          <p:cNvSpPr txBox="1"/>
          <p:nvPr/>
        </p:nvSpPr>
        <p:spPr>
          <a:xfrm>
            <a:off x="800101" y="1228626"/>
            <a:ext cx="6097554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测试集 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</a:rPr>
              <a:t>BLEU</a:t>
            </a:r>
            <a:endParaRPr lang="zh-CN" altLang="en-US" sz="1600" b="1" dirty="0">
              <a:solidFill>
                <a:srgbClr val="2E6A70"/>
              </a:solidFill>
              <a:cs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EBA91E-B9DE-3DF1-BB76-5AAE177195D5}"/>
              </a:ext>
            </a:extLst>
          </p:cNvPr>
          <p:cNvSpPr txBox="1"/>
          <p:nvPr/>
        </p:nvSpPr>
        <p:spPr>
          <a:xfrm>
            <a:off x="800101" y="3805188"/>
            <a:ext cx="9220977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译文样例</a:t>
            </a:r>
            <a:endParaRPr lang="zh-CN" altLang="en-US" sz="1600" dirty="0">
              <a:solidFill>
                <a:srgbClr val="2E6A70"/>
              </a:solidFill>
              <a:cs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1D1FAD5-5A83-4B49-8987-F6EBE27F2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24" y="1915284"/>
            <a:ext cx="8296275" cy="3714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123CD11-BD1F-F626-F268-C80C92651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24" y="2463413"/>
            <a:ext cx="4911078" cy="121493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52EEAF6-FCF8-0575-ECD7-0036061ADD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174" y="4460570"/>
            <a:ext cx="8315325" cy="3048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421C61A-50AC-35B5-B3EF-955FC3B1876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4120"/>
          <a:stretch>
            <a:fillRect/>
          </a:stretch>
        </p:blipFill>
        <p:spPr>
          <a:xfrm>
            <a:off x="892174" y="4959726"/>
            <a:ext cx="3571875" cy="89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57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5067D-8406-0359-870D-5AA02014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D52337F-4B19-06BA-2D49-6921033C66A9}"/>
              </a:ext>
            </a:extLst>
          </p:cNvPr>
          <p:cNvSpPr/>
          <p:nvPr/>
        </p:nvSpPr>
        <p:spPr>
          <a:xfrm>
            <a:off x="366395" y="1062355"/>
            <a:ext cx="11595735" cy="5319395"/>
          </a:xfrm>
          <a:prstGeom prst="rect">
            <a:avLst/>
          </a:prstGeom>
          <a:solidFill>
            <a:srgbClr val="2E6A7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04C7351-9D57-A21E-F7B0-E3D52C65BD31}"/>
              </a:ext>
            </a:extLst>
          </p:cNvPr>
          <p:cNvGrpSpPr/>
          <p:nvPr/>
        </p:nvGrpSpPr>
        <p:grpSpPr>
          <a:xfrm>
            <a:off x="0" y="306459"/>
            <a:ext cx="365760" cy="621135"/>
            <a:chOff x="0" y="306459"/>
            <a:chExt cx="365760" cy="6211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66D95B4-A673-7A0D-796B-5D80F6B1FB00}"/>
                </a:ext>
              </a:extLst>
            </p:cNvPr>
            <p:cNvSpPr/>
            <p:nvPr/>
          </p:nvSpPr>
          <p:spPr>
            <a:xfrm>
              <a:off x="0" y="306459"/>
              <a:ext cx="142240" cy="621135"/>
            </a:xfrm>
            <a:prstGeom prst="rect">
              <a:avLst/>
            </a:prstGeom>
            <a:solidFill>
              <a:srgbClr val="2E6A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EF4AAEE-2FAF-CAB0-607A-916BC9A6E3AA}"/>
                </a:ext>
              </a:extLst>
            </p:cNvPr>
            <p:cNvSpPr/>
            <p:nvPr/>
          </p:nvSpPr>
          <p:spPr>
            <a:xfrm>
              <a:off x="223520" y="306459"/>
              <a:ext cx="142240" cy="621135"/>
            </a:xfrm>
            <a:prstGeom prst="rect">
              <a:avLst/>
            </a:prstGeom>
            <a:solidFill>
              <a:srgbClr val="E3A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校徽统一颜色">
            <a:extLst>
              <a:ext uri="{FF2B5EF4-FFF2-40B4-BE49-F238E27FC236}">
                <a16:creationId xmlns:a16="http://schemas.microsoft.com/office/drawing/2014/main" id="{8EBD7734-171E-7B21-81E3-B88273CAC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660" y="254635"/>
            <a:ext cx="649605" cy="6496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C45DE64-A72F-7543-21B0-6BF7736D6FA7}"/>
              </a:ext>
            </a:extLst>
          </p:cNvPr>
          <p:cNvSpPr txBox="1"/>
          <p:nvPr/>
        </p:nvSpPr>
        <p:spPr>
          <a:xfrm>
            <a:off x="669924" y="337065"/>
            <a:ext cx="8778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训练结果如何保存和分析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693349-B731-CF12-7A70-D5234B364FFB}"/>
              </a:ext>
            </a:extLst>
          </p:cNvPr>
          <p:cNvSpPr txBox="1"/>
          <p:nvPr/>
        </p:nvSpPr>
        <p:spPr>
          <a:xfrm>
            <a:off x="800101" y="1228626"/>
            <a:ext cx="6097554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评测命令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6474B0-1899-2178-3DB9-848FA594E1AD}"/>
              </a:ext>
            </a:extLst>
          </p:cNvPr>
          <p:cNvSpPr txBox="1"/>
          <p:nvPr/>
        </p:nvSpPr>
        <p:spPr>
          <a:xfrm>
            <a:off x="800101" y="2874768"/>
            <a:ext cx="9220977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  <a:buSzPct val="25000"/>
            </a:pP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绘制 </a:t>
            </a:r>
            <a:r>
              <a:rPr lang="en-US" altLang="zh-CN" sz="1600" b="1" dirty="0">
                <a:solidFill>
                  <a:srgbClr val="2E6A70"/>
                </a:solidFill>
                <a:cs typeface="+mn-ea"/>
              </a:rPr>
              <a:t>loss </a:t>
            </a:r>
            <a:r>
              <a:rPr lang="zh-CN" altLang="en-US" sz="1600" b="1" dirty="0">
                <a:solidFill>
                  <a:srgbClr val="2E6A70"/>
                </a:solidFill>
                <a:cs typeface="+mn-ea"/>
              </a:rPr>
              <a:t>曲线</a:t>
            </a:r>
            <a:endParaRPr lang="zh-CN" altLang="en-US" sz="1600" dirty="0">
              <a:solidFill>
                <a:srgbClr val="2E6A70"/>
              </a:solidFill>
              <a:cs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20F7C5-4499-D552-520C-4D7757D9D3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18543" b="-31233"/>
          <a:stretch>
            <a:fillRect/>
          </a:stretch>
        </p:blipFill>
        <p:spPr>
          <a:xfrm>
            <a:off x="1167201" y="1881066"/>
            <a:ext cx="8060775" cy="91822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58A28E1-E863-B4AB-A202-990E31822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201" y="3780581"/>
            <a:ext cx="8060775" cy="17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0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10819 校园外拍 唐丽香 (6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730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795" y="-196850"/>
            <a:ext cx="12212955" cy="7054850"/>
          </a:xfrm>
          <a:prstGeom prst="rect">
            <a:avLst/>
          </a:prstGeom>
          <a:solidFill>
            <a:srgbClr val="2E6A7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95" y="2023110"/>
            <a:ext cx="12190730" cy="2351405"/>
          </a:xfrm>
          <a:prstGeom prst="rect">
            <a:avLst/>
          </a:prstGeom>
          <a:solidFill>
            <a:srgbClr val="2E6A7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476500" y="1893092"/>
            <a:ext cx="7828915" cy="19754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3800" dirty="0"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感谢聆听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76194" y="3990814"/>
            <a:ext cx="59614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rPr>
              <a:t>THANK YOU FOR LISTENING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pic>
        <p:nvPicPr>
          <p:cNvPr id="9" name="图片 8" descr="校徽+中英文（透明） 白色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23110"/>
            <a:ext cx="2216150" cy="6978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MwZjk1MGM0ZjBlMmI0YTJkODhiMTc1OGEyOTY3NzMifQ=="/>
  <p:tag name="KSO_WPP_MARK_KEY" val="18e08987-65e9-448a-a964-21517a34fc3f"/>
  <p:tag name="OPCH-F1A3850F309F88DDC7B8876175266F145F80F35CFD1F18E54243148DD6845676" val="[{&quot;GradientColorId&quot;:&quot;&quot;,&quot;IsFree&quot;:true,&quot;IsGradient&quot;:false,&quot;ImagePath&quot;:&quot;&quot;,&quot;GradientColor&quot;:null,&quot;SimpleColor&quot;:&quot;#FF000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2099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1494</Words>
  <Application>Microsoft Office PowerPoint</Application>
  <PresentationFormat>宽屏</PresentationFormat>
  <Paragraphs>243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承龙 刘</cp:lastModifiedBy>
  <cp:revision>198</cp:revision>
  <dcterms:created xsi:type="dcterms:W3CDTF">2019-06-19T02:08:00Z</dcterms:created>
  <dcterms:modified xsi:type="dcterms:W3CDTF">2026-05-31T03:24:51Z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2052-11.1.0.13012</vt:lpwstr>
  </property>
  <property fmtid="{D5CDD505-2E9C-101B-9397-08002B2CF9AE}" pid="3" name="ICV">
    <vt:lpwstr>77203968CB384E7CA36200EC41BB1147</vt:lpwstr>
  </property>
</Properties>
</file>